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1" autoAdjust="0"/>
    <p:restoredTop sz="94660"/>
  </p:normalViewPr>
  <p:slideViewPr>
    <p:cSldViewPr snapToGrid="0">
      <p:cViewPr>
        <p:scale>
          <a:sx n="100" d="100"/>
          <a:sy n="100" d="100"/>
        </p:scale>
        <p:origin x="19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4T08:44:58.027"/>
    </inkml:context>
    <inkml:brush xml:id="br0">
      <inkml:brushProperty name="width" value="0.14111" units="cm"/>
      <inkml:brushProperty name="height" value="0.14111" units="cm"/>
      <inkml:brushProperty name="color" value="#FF0000"/>
    </inkml:brush>
  </inkml:definitions>
  <inkml:trace contextRef="#ctx0" brushRef="#br0">0 127 24575,'1172'0'0,"-1156"-7"32,1-1 1,-2-2-1,24-27 0,21-17-1526,-38 43-5332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4T08:44:58.029"/>
    </inkml:context>
    <inkml:brush xml:id="br0">
      <inkml:brushProperty name="width" value="0.12347" units="cm"/>
      <inkml:brushProperty name="height" value="0.12347" units="cm"/>
      <inkml:brushProperty name="color" value="#00B0F0"/>
    </inkml:brush>
  </inkml:definitions>
  <inkml:trace contextRef="#ctx0" brushRef="#br0">1 549 24575,'2'-3'0,"0"1"0,-1 0 0,1-1 0,1 1 0,-1 1 0,0-1 0,0 0 0,1 0 0,-1 1 0,1-1 0,0 1 0,-1-1 0,5 0 0,11-9 0,-12 5 0,-1 0 0,0-1 0,-1 1 0,0-1 0,0 0 0,0-1 0,-1 1 0,0-1 0,-1 1 0,1-1 0,-1 0 0,0 1 0,-1-1 0,0-14 0,11-39 0,-7 32 0,0 1 0,-2-1 0,-1 0 0,-2 1 0,-3-38 0,1-8 0,2 42-1365,0 19-5461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4T08:48:01.649"/>
    </inkml:context>
    <inkml:brush xml:id="br0">
      <inkml:brushProperty name="width" value="0.14111" units="cm"/>
      <inkml:brushProperty name="height" value="0.14111" units="cm"/>
      <inkml:brushProperty name="color" value="#FF0000"/>
    </inkml:brush>
  </inkml:definitions>
  <inkml:trace contextRef="#ctx0" brushRef="#br0">0 127 24575,'1172'0'0,"-1156"-7"32,1-1 1,-2-2-1,24-27 0,21-17-1526,-38 43-5332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4T08:44:58.028"/>
    </inkml:context>
    <inkml:brush xml:id="br0">
      <inkml:brushProperty name="width" value="0.12347" units="cm"/>
      <inkml:brushProperty name="height" value="0.12347" units="cm"/>
      <inkml:brushProperty name="color" value="#92D050"/>
    </inkml:brush>
  </inkml:definitions>
  <inkml:trace contextRef="#ctx0" brushRef="#br0">1148 1 24575,'0'1'0,"0"-1"0,-1 2 0,1-2 0,-1 1 0,1 0 0,0 0 0,-1 0 0,0-1 0,1 1 0,-1 0 0,0-1 0,1 1 0,-1 0 0,0-1 0,1 1 0,-1 0 0,1-1 0,-1 0 0,0 1 0,-2 0 0,-24 10 0,11-5 0,-48 32 0,3 3 0,-104 87 0,121-85 0,-56 71 0,1-1 0,91-105 0,-90 88 0,-27 0 0,-4 22 0,123-113 0,-94 98 0,89-90 0,1 0 0,1 1 0,0 1 0,1 0 0,0 0 0,-7 24 0,10-24 0,0 1 0,2-1 0,0 1 0,1 0 0,-1 28 0,3-37 0,0 0 0,1 0 0,0 0 0,0 0 0,1-1 0,0 1 0,0-1 0,0 1 0,1 0 0,0-1 0,0 0 0,0 0 0,1 0 0,0-1 0,8 9 0,-1-2-273,1-1 0,1-1 0,0 1 0,28 15 0,-26-18-6553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719B-E23C-4A98-9F30-6B4DA47D9E4E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63F1-8DB7-41D9-A0B3-ACDF0CCBFE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845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719B-E23C-4A98-9F30-6B4DA47D9E4E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63F1-8DB7-41D9-A0B3-ACDF0CCBFE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829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719B-E23C-4A98-9F30-6B4DA47D9E4E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63F1-8DB7-41D9-A0B3-ACDF0CCBFE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671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719B-E23C-4A98-9F30-6B4DA47D9E4E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63F1-8DB7-41D9-A0B3-ACDF0CCBFE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992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719B-E23C-4A98-9F30-6B4DA47D9E4E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63F1-8DB7-41D9-A0B3-ACDF0CCBFE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52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719B-E23C-4A98-9F30-6B4DA47D9E4E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63F1-8DB7-41D9-A0B3-ACDF0CCBFE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611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719B-E23C-4A98-9F30-6B4DA47D9E4E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63F1-8DB7-41D9-A0B3-ACDF0CCBFE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062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719B-E23C-4A98-9F30-6B4DA47D9E4E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63F1-8DB7-41D9-A0B3-ACDF0CCBFE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422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719B-E23C-4A98-9F30-6B4DA47D9E4E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63F1-8DB7-41D9-A0B3-ACDF0CCBFE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831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719B-E23C-4A98-9F30-6B4DA47D9E4E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63F1-8DB7-41D9-A0B3-ACDF0CCBFE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595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719B-E23C-4A98-9F30-6B4DA47D9E4E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63F1-8DB7-41D9-A0B3-ACDF0CCBFE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162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D6719B-E23C-4A98-9F30-6B4DA47D9E4E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B563F1-8DB7-41D9-A0B3-ACDF0CCBFE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516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B545049-C794-10EC-370E-21DB8635B0D9}"/>
              </a:ext>
            </a:extLst>
          </p:cNvPr>
          <p:cNvSpPr txBox="1"/>
          <p:nvPr/>
        </p:nvSpPr>
        <p:spPr>
          <a:xfrm>
            <a:off x="0" y="749739"/>
            <a:ext cx="6857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思源宋体 Heavy" panose="02020900000000000000" pitchFamily="18" charset="-122"/>
                <a:ea typeface="思源宋体 Heavy" panose="02020900000000000000" pitchFamily="18" charset="-122"/>
              </a:rPr>
              <a:t>IDS</a:t>
            </a:r>
            <a:r>
              <a:rPr lang="zh-CN" altLang="en-US" sz="2800" dirty="0">
                <a:latin typeface="思源宋体 Heavy" panose="02020900000000000000" pitchFamily="18" charset="-122"/>
                <a:ea typeface="思源宋体 Heavy" panose="02020900000000000000" pitchFamily="18" charset="-122"/>
              </a:rPr>
              <a:t>说明文档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124C73-26FA-CCE7-24F2-161CD0F5320A}"/>
              </a:ext>
            </a:extLst>
          </p:cNvPr>
          <p:cNvSpPr txBox="1"/>
          <p:nvPr/>
        </p:nvSpPr>
        <p:spPr>
          <a:xfrm>
            <a:off x="628649" y="1329973"/>
            <a:ext cx="47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IDS 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数据库：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https://github.com/yi-bai/ids</a:t>
            </a:r>
            <a:endParaRPr lang="zh-CN" altLang="en-US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EF20C53-EFAA-A568-A595-799500DE4CFF}"/>
              </a:ext>
            </a:extLst>
          </p:cNvPr>
          <p:cNvSpPr txBox="1"/>
          <p:nvPr/>
        </p:nvSpPr>
        <p:spPr>
          <a:xfrm>
            <a:off x="628648" y="1601672"/>
            <a:ext cx="54204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IDS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是表意文字描述序列，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IDC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是表意文字描述符。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00A78A-B602-1FDB-F14F-B85486CEBCB1}"/>
              </a:ext>
            </a:extLst>
          </p:cNvPr>
          <p:cNvSpPr txBox="1"/>
          <p:nvPr/>
        </p:nvSpPr>
        <p:spPr>
          <a:xfrm>
            <a:off x="628648" y="1881121"/>
            <a:ext cx="54204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所有特殊 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IDS 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以</a:t>
            </a:r>
            <a:r>
              <a:rPr lang="en-US" altLang="zh-CN" sz="12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#(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和</a:t>
            </a:r>
            <a:r>
              <a:rPr lang="en-US" altLang="zh-CN" sz="12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)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包围。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F7D2770-67BF-E21E-2EF6-11B119A5680B}"/>
              </a:ext>
            </a:extLst>
          </p:cNvPr>
          <p:cNvSpPr txBox="1"/>
          <p:nvPr/>
        </p:nvSpPr>
        <p:spPr>
          <a:xfrm>
            <a:off x="628648" y="2262531"/>
            <a:ext cx="5420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1. IDC</a:t>
            </a:r>
            <a:endParaRPr lang="zh-CN" altLang="en-US" b="1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FED35C-E202-91C2-B8DC-0E7C15DF5026}"/>
              </a:ext>
            </a:extLst>
          </p:cNvPr>
          <p:cNvSpPr txBox="1"/>
          <p:nvPr/>
        </p:nvSpPr>
        <p:spPr>
          <a:xfrm>
            <a:off x="628648" y="2634291"/>
            <a:ext cx="542045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⿰左右</a:t>
            </a:r>
            <a:r>
              <a:rPr lang="en-US" altLang="zh-CN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		</a:t>
            </a:r>
          </a:p>
          <a:p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⿲左中右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⿱上下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⿳上中下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⿴全包围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⿻重叠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600" dirty="0">
                <a:latin typeface="遍黑体P2" panose="02010500060101010101" pitchFamily="2" charset="-122"/>
                <a:ea typeface="遍黑体P2" panose="02010500060101010101" pitchFamily="2" charset="-122"/>
                <a:cs typeface="更纱黑体 UI SC" panose="02000500000000000000" pitchFamily="2" charset="-122"/>
              </a:rPr>
              <a:t>⿾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左右镜像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600" dirty="0">
                <a:latin typeface="遍黑体P2" panose="02010500060101010101" pitchFamily="2" charset="-122"/>
                <a:ea typeface="遍黑体P2" panose="02010500060101010101" pitchFamily="2" charset="-122"/>
                <a:cs typeface="更纱黑体 UI SC" panose="02000500000000000000" pitchFamily="2" charset="-122"/>
              </a:rPr>
              <a:t>⿿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上下镜像加左右镜像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600" dirty="0">
                <a:latin typeface="遍黑体P2" panose="02010500060101010101" pitchFamily="2" charset="-122"/>
                <a:ea typeface="遍黑体P2" panose="02010500060101010101" pitchFamily="2" charset="-122"/>
                <a:cs typeface="更纱黑体 UI SC" panose="02000500000000000000" pitchFamily="2" charset="-122"/>
              </a:rPr>
              <a:t>㇯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删减</a:t>
            </a:r>
            <a:endParaRPr lang="zh-CN" altLang="en-US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1AB617-0D0C-3D55-972D-9A59D354F949}"/>
              </a:ext>
            </a:extLst>
          </p:cNvPr>
          <p:cNvSpPr txBox="1"/>
          <p:nvPr/>
        </p:nvSpPr>
        <p:spPr>
          <a:xfrm>
            <a:off x="3338877" y="2639748"/>
            <a:ext cx="271022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⿸左上包围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⿺左下包围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⿹右上包围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600" dirty="0">
                <a:latin typeface="遍黑体P2" panose="02010500060101010101" pitchFamily="2" charset="-122"/>
                <a:ea typeface="遍黑体P2" panose="02010500060101010101" pitchFamily="2" charset="-122"/>
                <a:cs typeface="更纱黑体 UI SC" panose="02000500000000000000" pitchFamily="2" charset="-122"/>
              </a:rPr>
              <a:t>⿽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右下包围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⿵左右上包围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⿷左上下包围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⿶左右下包围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600" dirty="0">
                <a:latin typeface="遍黑体P2" panose="02010500060101010101" pitchFamily="2" charset="-122"/>
                <a:ea typeface="遍黑体P2" panose="02010500060101010101" pitchFamily="2" charset="-122"/>
                <a:cs typeface="更纱黑体 UI SC" panose="02000500000000000000" pitchFamily="2" charset="-122"/>
              </a:rPr>
              <a:t>⿼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右上下包围</a:t>
            </a:r>
            <a:endParaRPr lang="en-US" altLang="zh-CN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AD3050-7B03-59EC-11E1-7D2BDF1B0ADE}"/>
              </a:ext>
            </a:extLst>
          </p:cNvPr>
          <p:cNvSpPr txBox="1"/>
          <p:nvPr/>
        </p:nvSpPr>
        <p:spPr>
          <a:xfrm>
            <a:off x="628648" y="5074983"/>
            <a:ext cx="5420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2. </a:t>
            </a:r>
            <a:r>
              <a:rPr lang="zh-CN" altLang="en-US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地区指定符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F12CB7-342F-24AA-13F5-B1BD7BB8606B}"/>
              </a:ext>
            </a:extLst>
          </p:cNvPr>
          <p:cNvSpPr txBox="1"/>
          <p:nvPr/>
        </p:nvSpPr>
        <p:spPr>
          <a:xfrm>
            <a:off x="628648" y="5722397"/>
            <a:ext cx="5791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在一个汉字后的地区标识符表示这个汉字使用某个地区的字形。</a:t>
            </a:r>
            <a:endParaRPr lang="zh-CN" altLang="en-US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FD17D5C-D93A-5B0A-1804-DF21270CB847}"/>
              </a:ext>
            </a:extLst>
          </p:cNvPr>
          <p:cNvSpPr txBox="1"/>
          <p:nvPr/>
        </p:nvSpPr>
        <p:spPr>
          <a:xfrm>
            <a:off x="628646" y="7551077"/>
            <a:ext cx="5420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在一个</a:t>
            </a:r>
            <a:r>
              <a:rPr lang="en-US" altLang="zh-CN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IDS</a:t>
            </a:r>
            <a:r>
              <a:rPr lang="zh-CN" altLang="en-US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末尾的括号中的地区标识符表示这个</a:t>
            </a:r>
            <a:r>
              <a:rPr lang="en-US" altLang="zh-CN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IDS</a:t>
            </a:r>
            <a:r>
              <a:rPr lang="zh-CN" altLang="en-US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适用于某个地区的字形。</a:t>
            </a:r>
            <a:endParaRPr lang="en-US" altLang="zh-CN" sz="1200" b="0" i="0" dirty="0">
              <a:solidFill>
                <a:srgbClr val="18191C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en-US" altLang="zh-CN" sz="1200" b="1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.</a:t>
            </a:r>
            <a:r>
              <a:rPr lang="zh-CN" altLang="en-US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是通配符，表示该汉字无需采用特定地区的字形。</a:t>
            </a:r>
            <a:endParaRPr lang="zh-CN" altLang="en-US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57521D5-F41B-D26D-C859-B4720341AD51}"/>
              </a:ext>
            </a:extLst>
          </p:cNvPr>
          <p:cNvSpPr txBox="1"/>
          <p:nvPr/>
        </p:nvSpPr>
        <p:spPr>
          <a:xfrm>
            <a:off x="628648" y="5445398"/>
            <a:ext cx="47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正则：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\(?GHTJK\)?</a:t>
            </a:r>
            <a:endParaRPr lang="zh-CN" altLang="en-US" sz="1200" dirty="0">
              <a:solidFill>
                <a:srgbClr val="C00000"/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C0868FB-96B0-ED0E-4416-608F37425BA4}"/>
              </a:ext>
            </a:extLst>
          </p:cNvPr>
          <p:cNvSpPr txBox="1"/>
          <p:nvPr/>
        </p:nvSpPr>
        <p:spPr>
          <a:xfrm>
            <a:off x="628646" y="6084576"/>
            <a:ext cx="22764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佬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	</a:t>
            </a:r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⿰亻老</a:t>
            </a:r>
            <a:r>
              <a:rPr lang="en-US" altLang="zh-CN" sz="20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T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(T)</a:t>
            </a:r>
          </a:p>
          <a:p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迷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	</a:t>
            </a:r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⿺辶</a:t>
            </a:r>
            <a:r>
              <a:rPr lang="en-US" altLang="zh-CN" sz="20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H</a:t>
            </a:r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米</a:t>
            </a:r>
            <a:r>
              <a:rPr lang="en-US" altLang="zh-CN" sz="20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T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(H)</a:t>
            </a:r>
          </a:p>
          <a:p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睹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	</a:t>
            </a:r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⿰目者</a:t>
            </a:r>
            <a:r>
              <a:rPr lang="en-US" altLang="zh-CN" sz="20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K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(J)</a:t>
            </a:r>
          </a:p>
          <a:p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低	⿰亻氐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.(.)</a:t>
            </a:r>
            <a:endParaRPr lang="zh-CN" altLang="en-US" sz="20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F214FFF-E611-A75E-E591-CE12564747D7}"/>
              </a:ext>
            </a:extLst>
          </p:cNvPr>
          <p:cNvSpPr txBox="1"/>
          <p:nvPr/>
        </p:nvSpPr>
        <p:spPr>
          <a:xfrm>
            <a:off x="3952874" y="6084576"/>
            <a:ext cx="19611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佬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	</a:t>
            </a:r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⿰亻</a:t>
            </a:r>
            <a:r>
              <a:rPr lang="zh-CN" altLang="en-US" sz="2000" dirty="0">
                <a:solidFill>
                  <a:srgbClr val="C00000"/>
                </a:solidFill>
                <a:latin typeface="Sarasa UI TC" panose="02000500000000000000" pitchFamily="2" charset="-120"/>
                <a:ea typeface="Sarasa UI TC" panose="02000500000000000000" pitchFamily="2" charset="-120"/>
                <a:cs typeface="Sarasa UI TC" panose="02000500000000000000" pitchFamily="2" charset="-120"/>
              </a:rPr>
              <a:t>老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(T)</a:t>
            </a:r>
          </a:p>
          <a:p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迷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	</a:t>
            </a:r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⿺</a:t>
            </a:r>
            <a:r>
              <a:rPr lang="zh-CN" altLang="en-US" sz="2000" dirty="0">
                <a:solidFill>
                  <a:srgbClr val="C00000"/>
                </a:solidFill>
                <a:latin typeface="Sarasa UI HC" panose="02000500000000000000" pitchFamily="2" charset="-120"/>
                <a:ea typeface="Sarasa UI HC" panose="02000500000000000000" pitchFamily="2" charset="-120"/>
                <a:cs typeface="Sarasa UI HC" panose="02000500000000000000" pitchFamily="2" charset="-120"/>
              </a:rPr>
              <a:t>辶</a:t>
            </a:r>
            <a:r>
              <a:rPr lang="zh-CN" altLang="en-US" sz="2000" dirty="0">
                <a:solidFill>
                  <a:srgbClr val="C00000"/>
                </a:solidFill>
                <a:latin typeface="Sarasa UI TC" panose="02000500000000000000" pitchFamily="2" charset="-120"/>
                <a:ea typeface="Sarasa UI TC" panose="02000500000000000000" pitchFamily="2" charset="-120"/>
                <a:cs typeface="Sarasa UI TC" panose="02000500000000000000" pitchFamily="2" charset="-120"/>
              </a:rPr>
              <a:t>米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(H)</a:t>
            </a:r>
          </a:p>
          <a:p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睹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	</a:t>
            </a:r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⿰目</a:t>
            </a:r>
            <a:r>
              <a:rPr lang="zh-CN" altLang="en-US" sz="2000" dirty="0">
                <a:solidFill>
                  <a:srgbClr val="C00000"/>
                </a:solidFill>
                <a:latin typeface="Sarasa UI K" panose="02000500000000000000" pitchFamily="2" charset="-127"/>
                <a:ea typeface="Sarasa UI K" panose="02000500000000000000" pitchFamily="2" charset="-127"/>
                <a:cs typeface="Sarasa UI K" panose="02000500000000000000" pitchFamily="2" charset="-127"/>
              </a:rPr>
              <a:t>者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(J)</a:t>
            </a:r>
          </a:p>
          <a:p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低	⿰亻氐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.(.)</a:t>
            </a:r>
            <a:endParaRPr lang="zh-CN" altLang="en-US" sz="20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DE26141-76D2-8B81-00FF-BC794CFBDCC8}"/>
              </a:ext>
            </a:extLst>
          </p:cNvPr>
          <p:cNvSpPr txBox="1"/>
          <p:nvPr/>
        </p:nvSpPr>
        <p:spPr>
          <a:xfrm>
            <a:off x="934448" y="8033700"/>
            <a:ext cx="196114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佬</a:t>
            </a:r>
            <a:r>
              <a:rPr lang="en-US" altLang="zh-CN" sz="2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	</a:t>
            </a:r>
            <a:r>
              <a:rPr lang="zh-CN" altLang="en-US" sz="2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⿰亻</a:t>
            </a:r>
            <a:r>
              <a:rPr lang="zh-CN" altLang="en-US" sz="2200" dirty="0">
                <a:solidFill>
                  <a:srgbClr val="C00000"/>
                </a:solidFill>
                <a:latin typeface="Sarasa UI TC" panose="02000500000000000000" pitchFamily="2" charset="-120"/>
                <a:ea typeface="Sarasa UI TC" panose="02000500000000000000" pitchFamily="2" charset="-120"/>
                <a:cs typeface="Sarasa UI TC" panose="02000500000000000000" pitchFamily="2" charset="-120"/>
              </a:rPr>
              <a:t>老</a:t>
            </a:r>
            <a:r>
              <a:rPr lang="en-US" altLang="zh-CN" sz="2200" dirty="0">
                <a:solidFill>
                  <a:srgbClr val="FF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(T)</a:t>
            </a:r>
          </a:p>
          <a:p>
            <a:r>
              <a:rPr lang="zh-CN" altLang="en-US" sz="2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迷</a:t>
            </a:r>
            <a:r>
              <a:rPr lang="en-US" altLang="zh-CN" sz="2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	</a:t>
            </a:r>
            <a:r>
              <a:rPr lang="zh-CN" altLang="en-US" sz="2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⿺</a:t>
            </a:r>
            <a:r>
              <a:rPr lang="zh-CN" altLang="en-US" sz="2200" dirty="0">
                <a:solidFill>
                  <a:srgbClr val="C00000"/>
                </a:solidFill>
                <a:latin typeface="Sarasa UI HC" panose="02000500000000000000" pitchFamily="2" charset="-120"/>
                <a:ea typeface="Sarasa UI HC" panose="02000500000000000000" pitchFamily="2" charset="-120"/>
                <a:cs typeface="Sarasa UI HC" panose="02000500000000000000" pitchFamily="2" charset="-120"/>
              </a:rPr>
              <a:t>辶</a:t>
            </a:r>
            <a:r>
              <a:rPr lang="zh-CN" altLang="en-US" sz="2200" dirty="0">
                <a:solidFill>
                  <a:srgbClr val="C00000"/>
                </a:solidFill>
                <a:latin typeface="Sarasa UI TC" panose="02000500000000000000" pitchFamily="2" charset="-120"/>
                <a:ea typeface="Sarasa UI TC" panose="02000500000000000000" pitchFamily="2" charset="-120"/>
                <a:cs typeface="Sarasa UI TC" panose="02000500000000000000" pitchFamily="2" charset="-120"/>
              </a:rPr>
              <a:t>米</a:t>
            </a:r>
            <a:r>
              <a:rPr lang="en-US" altLang="zh-CN" sz="2200" dirty="0">
                <a:solidFill>
                  <a:srgbClr val="FF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(H)</a:t>
            </a:r>
          </a:p>
          <a:p>
            <a:r>
              <a:rPr lang="zh-CN" altLang="en-US" sz="2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睹</a:t>
            </a:r>
            <a:r>
              <a:rPr lang="en-US" altLang="zh-CN" sz="2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	</a:t>
            </a:r>
            <a:r>
              <a:rPr lang="zh-CN" altLang="en-US" sz="2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⿰目</a:t>
            </a:r>
            <a:r>
              <a:rPr lang="zh-CN" altLang="en-US" sz="2200" dirty="0">
                <a:solidFill>
                  <a:srgbClr val="C00000"/>
                </a:solidFill>
                <a:latin typeface="Sarasa UI K" panose="02000500000000000000" pitchFamily="2" charset="-127"/>
                <a:ea typeface="Sarasa UI K" panose="02000500000000000000" pitchFamily="2" charset="-127"/>
                <a:cs typeface="Sarasa UI K" panose="02000500000000000000" pitchFamily="2" charset="-127"/>
              </a:rPr>
              <a:t>者</a:t>
            </a:r>
            <a:r>
              <a:rPr lang="en-US" altLang="zh-CN" sz="2200" dirty="0">
                <a:solidFill>
                  <a:srgbClr val="FF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(J)</a:t>
            </a:r>
          </a:p>
          <a:p>
            <a:r>
              <a:rPr lang="zh-CN" altLang="en-US" sz="2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低	⿰亻氐</a:t>
            </a:r>
            <a:r>
              <a:rPr lang="en-US" altLang="zh-CN" sz="2200" dirty="0">
                <a:solidFill>
                  <a:srgbClr val="FF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.(.)</a:t>
            </a:r>
            <a:endParaRPr lang="zh-CN" altLang="en-US" sz="2200" dirty="0">
              <a:solidFill>
                <a:srgbClr val="FF0000"/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A589E925-1908-AC04-ACAF-2948B9DFEC11}"/>
              </a:ext>
            </a:extLst>
          </p:cNvPr>
          <p:cNvSpPr/>
          <p:nvPr/>
        </p:nvSpPr>
        <p:spPr>
          <a:xfrm>
            <a:off x="3018686" y="8569550"/>
            <a:ext cx="801567" cy="374850"/>
          </a:xfrm>
          <a:prstGeom prst="rightArrow">
            <a:avLst>
              <a:gd name="adj1" fmla="val 39836"/>
              <a:gd name="adj2" fmla="val 550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5DDD5D-B872-0DD7-48F2-C388700D6621}"/>
              </a:ext>
            </a:extLst>
          </p:cNvPr>
          <p:cNvSpPr txBox="1"/>
          <p:nvPr/>
        </p:nvSpPr>
        <p:spPr>
          <a:xfrm>
            <a:off x="3943345" y="8033700"/>
            <a:ext cx="156989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rgbClr val="FF0000"/>
                </a:solidFill>
                <a:latin typeface="Sarasa UI TC" panose="02000500000000000000" pitchFamily="2" charset="-120"/>
                <a:ea typeface="Sarasa UI TC" panose="02000500000000000000" pitchFamily="2" charset="-120"/>
                <a:cs typeface="Sarasa UI TC" panose="02000500000000000000" pitchFamily="2" charset="-120"/>
              </a:rPr>
              <a:t>佬</a:t>
            </a:r>
            <a:r>
              <a:rPr lang="en-US" altLang="zh-CN" sz="2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	</a:t>
            </a:r>
            <a:r>
              <a:rPr lang="zh-CN" altLang="en-US" sz="2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⿰亻</a:t>
            </a:r>
            <a:r>
              <a:rPr lang="zh-CN" altLang="en-US" sz="2200" dirty="0">
                <a:solidFill>
                  <a:srgbClr val="C00000"/>
                </a:solidFill>
                <a:latin typeface="Sarasa UI TC" panose="02000500000000000000" pitchFamily="2" charset="-120"/>
                <a:ea typeface="Sarasa UI TC" panose="02000500000000000000" pitchFamily="2" charset="-120"/>
                <a:cs typeface="Sarasa UI TC" panose="02000500000000000000" pitchFamily="2" charset="-120"/>
              </a:rPr>
              <a:t>老</a:t>
            </a:r>
            <a:endParaRPr lang="en-US" altLang="zh-CN" sz="2200" dirty="0">
              <a:solidFill>
                <a:srgbClr val="C00000"/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2200" dirty="0">
                <a:solidFill>
                  <a:srgbClr val="FF0000"/>
                </a:solidFill>
                <a:latin typeface="Sarasa UI HC" panose="02000500000000000000" pitchFamily="2" charset="-120"/>
                <a:ea typeface="Sarasa UI HC" panose="02000500000000000000" pitchFamily="2" charset="-120"/>
                <a:cs typeface="Sarasa UI HC" panose="02000500000000000000" pitchFamily="2" charset="-120"/>
              </a:rPr>
              <a:t>迷</a:t>
            </a:r>
            <a:r>
              <a:rPr lang="en-US" altLang="zh-CN" sz="2200" dirty="0">
                <a:solidFill>
                  <a:schemeClr val="bg1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	</a:t>
            </a:r>
            <a:r>
              <a:rPr lang="zh-CN" altLang="en-US" sz="2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⿺</a:t>
            </a:r>
            <a:r>
              <a:rPr lang="zh-CN" altLang="en-US" sz="2200" dirty="0">
                <a:solidFill>
                  <a:srgbClr val="C00000"/>
                </a:solidFill>
                <a:latin typeface="Sarasa UI HC" panose="02000500000000000000" pitchFamily="2" charset="-120"/>
                <a:ea typeface="Sarasa UI HC" panose="02000500000000000000" pitchFamily="2" charset="-120"/>
                <a:cs typeface="Sarasa UI HC" panose="02000500000000000000" pitchFamily="2" charset="-120"/>
              </a:rPr>
              <a:t>辶</a:t>
            </a:r>
            <a:r>
              <a:rPr lang="zh-CN" altLang="en-US" sz="2200" dirty="0">
                <a:solidFill>
                  <a:srgbClr val="C00000"/>
                </a:solidFill>
                <a:latin typeface="Sarasa UI TC" panose="02000500000000000000" pitchFamily="2" charset="-120"/>
                <a:ea typeface="Sarasa UI TC" panose="02000500000000000000" pitchFamily="2" charset="-120"/>
                <a:cs typeface="Sarasa UI TC" panose="02000500000000000000" pitchFamily="2" charset="-120"/>
              </a:rPr>
              <a:t>米</a:t>
            </a:r>
            <a:endParaRPr lang="en-US" altLang="zh-CN" sz="2200" dirty="0">
              <a:solidFill>
                <a:srgbClr val="C00000"/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2200" dirty="0">
                <a:solidFill>
                  <a:srgbClr val="FF0000"/>
                </a:solidFill>
                <a:latin typeface="Sarasa UI J" panose="02000500000000000000" pitchFamily="2" charset="-128"/>
                <a:ea typeface="Sarasa UI J" panose="02000500000000000000" pitchFamily="2" charset="-128"/>
                <a:cs typeface="Sarasa UI J" panose="02000500000000000000" pitchFamily="2" charset="-128"/>
              </a:rPr>
              <a:t>睹</a:t>
            </a:r>
            <a:r>
              <a:rPr lang="en-US" altLang="zh-CN" sz="2200" dirty="0">
                <a:solidFill>
                  <a:schemeClr val="bg1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	</a:t>
            </a:r>
            <a:r>
              <a:rPr lang="zh-CN" altLang="en-US" sz="2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⿰目</a:t>
            </a:r>
            <a:r>
              <a:rPr lang="zh-CN" altLang="en-US" sz="2200" dirty="0">
                <a:solidFill>
                  <a:srgbClr val="C00000"/>
                </a:solidFill>
                <a:latin typeface="Sarasa UI K" panose="02000500000000000000" pitchFamily="2" charset="-127"/>
                <a:ea typeface="Sarasa UI K" panose="02000500000000000000" pitchFamily="2" charset="-127"/>
                <a:cs typeface="Sarasa UI K" panose="02000500000000000000" pitchFamily="2" charset="-127"/>
              </a:rPr>
              <a:t>者</a:t>
            </a:r>
            <a:endParaRPr lang="en-US" altLang="zh-CN" sz="2200" dirty="0">
              <a:solidFill>
                <a:srgbClr val="C00000"/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2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低	⿰亻氐</a:t>
            </a: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34CCF7AB-B947-39F7-39B2-EC82F5E7B2D1}"/>
              </a:ext>
            </a:extLst>
          </p:cNvPr>
          <p:cNvSpPr/>
          <p:nvPr/>
        </p:nvSpPr>
        <p:spPr>
          <a:xfrm>
            <a:off x="2938091" y="6620426"/>
            <a:ext cx="801567" cy="374850"/>
          </a:xfrm>
          <a:prstGeom prst="rightArrow">
            <a:avLst>
              <a:gd name="adj1" fmla="val 39836"/>
              <a:gd name="adj2" fmla="val 550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BBCCE4-867A-E2EA-02E5-0003F3107F09}"/>
              </a:ext>
            </a:extLst>
          </p:cNvPr>
          <p:cNvSpPr txBox="1"/>
          <p:nvPr/>
        </p:nvSpPr>
        <p:spPr>
          <a:xfrm>
            <a:off x="628645" y="9563673"/>
            <a:ext cx="5420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3. #()</a:t>
            </a:r>
            <a:r>
              <a:rPr lang="zh-CN" altLang="en-US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表达式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A94F422-51E1-540B-5761-78D7B0D8D7D9}"/>
              </a:ext>
            </a:extLst>
          </p:cNvPr>
          <p:cNvSpPr txBox="1"/>
          <p:nvPr/>
        </p:nvSpPr>
        <p:spPr>
          <a:xfrm>
            <a:off x="657951" y="9923840"/>
            <a:ext cx="4721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s1 </a:t>
            </a:r>
            <a:r>
              <a:rPr lang="zh-CN" altLang="en-US" sz="1600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笔画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CA102A6-62DF-E00F-8658-4AB74ED8EA6C}"/>
              </a:ext>
            </a:extLst>
          </p:cNvPr>
          <p:cNvSpPr txBox="1"/>
          <p:nvPr/>
        </p:nvSpPr>
        <p:spPr>
          <a:xfrm>
            <a:off x="628645" y="10233980"/>
            <a:ext cx="54204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正则：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</a:t>
            </a:r>
            <a:r>
              <a:rPr lang="en-US" altLang="zh-CN" sz="1200" b="0" i="0" dirty="0" err="1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BDGHNPQSTWXZbdghnpqstwxz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]</a:t>
            </a:r>
            <a:endParaRPr lang="zh-CN" altLang="en-US" sz="1200" dirty="0">
              <a:solidFill>
                <a:srgbClr val="C00000"/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B48655D-CA93-6524-3E1A-8740EE2971B3}"/>
              </a:ext>
            </a:extLst>
          </p:cNvPr>
          <p:cNvSpPr txBox="1"/>
          <p:nvPr/>
        </p:nvSpPr>
        <p:spPr>
          <a:xfrm>
            <a:off x="628645" y="10510979"/>
            <a:ext cx="542045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B = </a:t>
            </a:r>
            <a:r>
              <a:rPr lang="zh-CN" altLang="en-US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扁 </a:t>
            </a:r>
            <a:r>
              <a:rPr lang="en-US" altLang="zh-CN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D = </a:t>
            </a:r>
            <a:r>
              <a:rPr lang="zh-CN" altLang="en-US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点 </a:t>
            </a:r>
            <a:r>
              <a:rPr lang="en-US" altLang="zh-CN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G = </a:t>
            </a:r>
            <a:r>
              <a:rPr lang="zh-CN" altLang="en-US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钩 </a:t>
            </a:r>
            <a:r>
              <a:rPr lang="en-US" altLang="zh-CN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H = </a:t>
            </a:r>
            <a:r>
              <a:rPr lang="zh-CN" altLang="en-US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横 </a:t>
            </a:r>
            <a:r>
              <a:rPr lang="en-US" altLang="zh-CN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N = </a:t>
            </a:r>
            <a:r>
              <a:rPr lang="zh-CN" altLang="en-US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捺 </a:t>
            </a:r>
            <a:r>
              <a:rPr lang="en-US" altLang="zh-CN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P = </a:t>
            </a:r>
            <a:r>
              <a:rPr lang="zh-CN" altLang="en-US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撇 </a:t>
            </a:r>
            <a:r>
              <a:rPr lang="en-US" altLang="zh-CN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Q = </a:t>
            </a:r>
            <a:r>
              <a:rPr lang="zh-CN" altLang="en-US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圈 </a:t>
            </a:r>
            <a:r>
              <a:rPr lang="en-US" altLang="zh-CN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S = </a:t>
            </a:r>
            <a:r>
              <a:rPr lang="zh-CN" altLang="en-US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竖 </a:t>
            </a:r>
            <a:r>
              <a:rPr lang="en-US" altLang="zh-CN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T = </a:t>
            </a:r>
            <a:r>
              <a:rPr lang="zh-CN" altLang="en-US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提 </a:t>
            </a:r>
            <a:r>
              <a:rPr lang="en-US" altLang="zh-CN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W = </a:t>
            </a:r>
            <a:r>
              <a:rPr lang="zh-CN" altLang="en-US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弯 </a:t>
            </a:r>
            <a:r>
              <a:rPr lang="en-US" altLang="zh-CN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X = </a:t>
            </a:r>
            <a:r>
              <a:rPr lang="zh-CN" altLang="en-US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斜</a:t>
            </a:r>
            <a:endParaRPr lang="en-US" altLang="zh-CN" sz="11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en-US" altLang="zh-CN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Z = </a:t>
            </a:r>
            <a:r>
              <a:rPr lang="zh-CN" altLang="en-US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折。</a:t>
            </a:r>
            <a:endParaRPr lang="en-US" altLang="zh-CN" sz="11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（不区分大小写）</a:t>
            </a:r>
            <a:endParaRPr lang="en-US" altLang="zh-CN" sz="11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endParaRPr lang="en-US" altLang="zh-CN" sz="11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在</a:t>
            </a:r>
            <a:r>
              <a:rPr lang="en-US" altLang="zh-CN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IDS</a:t>
            </a:r>
            <a:r>
              <a:rPr lang="zh-CN" altLang="en-US" sz="11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中的小写字母代表笔画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875D519-6C62-42BE-C251-A8A917285AB7}"/>
              </a:ext>
            </a:extLst>
          </p:cNvPr>
          <p:cNvSpPr txBox="1"/>
          <p:nvPr/>
        </p:nvSpPr>
        <p:spPr>
          <a:xfrm>
            <a:off x="2911219" y="10759564"/>
            <a:ext cx="2862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乙</a:t>
            </a:r>
            <a:r>
              <a:rPr lang="zh-CN" altLang="en-US" sz="24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 </a:t>
            </a:r>
            <a:r>
              <a:rPr lang="en-US" altLang="zh-CN" sz="24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#(</a:t>
            </a:r>
            <a:r>
              <a:rPr lang="en-US" altLang="zh-CN" sz="2400" dirty="0">
                <a:solidFill>
                  <a:srgbClr val="FF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H</a:t>
            </a:r>
            <a:r>
              <a:rPr lang="en-US" altLang="zh-CN" sz="2400" dirty="0">
                <a:solidFill>
                  <a:srgbClr val="92D05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P</a:t>
            </a:r>
            <a:r>
              <a:rPr lang="en-US" altLang="zh-CN" sz="2400" dirty="0">
                <a:solidFill>
                  <a:srgbClr val="FF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H</a:t>
            </a:r>
            <a:r>
              <a:rPr lang="en-US" altLang="zh-CN" sz="2400" dirty="0">
                <a:solidFill>
                  <a:srgbClr val="00B0F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wg</a:t>
            </a:r>
            <a:r>
              <a:rPr lang="en-US" altLang="zh-CN" sz="24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)</a:t>
            </a:r>
            <a:endParaRPr lang="zh-CN" altLang="en-US" sz="2400" strike="sngStrike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F88277F-B2B2-718E-376B-60059CAC0473}"/>
              </a:ext>
            </a:extLst>
          </p:cNvPr>
          <p:cNvSpPr txBox="1"/>
          <p:nvPr/>
        </p:nvSpPr>
        <p:spPr>
          <a:xfrm>
            <a:off x="4146328" y="11561488"/>
            <a:ext cx="59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横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37291F1-2993-947D-7C61-50ECD8753CCB}"/>
              </a:ext>
            </a:extLst>
          </p:cNvPr>
          <p:cNvSpPr txBox="1"/>
          <p:nvPr/>
        </p:nvSpPr>
        <p:spPr>
          <a:xfrm>
            <a:off x="4486494" y="11563727"/>
            <a:ext cx="59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撇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4DF387C-9850-9360-81C7-AE94F92CA552}"/>
              </a:ext>
            </a:extLst>
          </p:cNvPr>
          <p:cNvSpPr txBox="1"/>
          <p:nvPr/>
        </p:nvSpPr>
        <p:spPr>
          <a:xfrm>
            <a:off x="4847415" y="11563179"/>
            <a:ext cx="1005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弯钩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520D0CE7-48B6-521B-D697-5BAB68126612}"/>
                  </a:ext>
                </a:extLst>
              </p14:cNvPr>
              <p14:cNvContentPartPr/>
              <p14:nvPr/>
            </p14:nvContentPartPr>
            <p14:xfrm>
              <a:off x="3138253" y="11415139"/>
              <a:ext cx="483201" cy="45719"/>
            </p14:xfrm>
          </p:contentPart>
        </mc:Choice>
        <mc:Fallback xmlns=""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520D0CE7-48B6-521B-D697-5BAB681266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12689" y="11389779"/>
                <a:ext cx="533970" cy="957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5049694A-A04A-4971-9082-599CA6271E39}"/>
                  </a:ext>
                </a:extLst>
              </p14:cNvPr>
              <p14:cNvContentPartPr/>
              <p14:nvPr/>
            </p14:nvContentPartPr>
            <p14:xfrm>
              <a:off x="3574961" y="11276116"/>
              <a:ext cx="47491" cy="197665"/>
            </p14:xfrm>
          </p:contentPart>
        </mc:Choice>
        <mc:Fallback xmlns=""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5049694A-A04A-4971-9082-599CA6271E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52484" y="11253834"/>
                <a:ext cx="92082" cy="2418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2" name="墨迹 41">
                <a:extLst>
                  <a:ext uri="{FF2B5EF4-FFF2-40B4-BE49-F238E27FC236}">
                    <a16:creationId xmlns:a16="http://schemas.microsoft.com/office/drawing/2014/main" id="{C046585F-2F93-EED6-51A4-5F23B7E760A5}"/>
                  </a:ext>
                </a:extLst>
              </p14:cNvPr>
              <p14:cNvContentPartPr/>
              <p14:nvPr/>
            </p14:nvContentPartPr>
            <p14:xfrm>
              <a:off x="3082495" y="10936900"/>
              <a:ext cx="483201" cy="45719"/>
            </p14:xfrm>
          </p:contentPart>
        </mc:Choice>
        <mc:Fallback xmlns="">
          <p:pic>
            <p:nvPicPr>
              <p:cNvPr id="42" name="墨迹 41">
                <a:extLst>
                  <a:ext uri="{FF2B5EF4-FFF2-40B4-BE49-F238E27FC236}">
                    <a16:creationId xmlns:a16="http://schemas.microsoft.com/office/drawing/2014/main" id="{C046585F-2F93-EED6-51A4-5F23B7E760A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56931" y="10911540"/>
                <a:ext cx="533970" cy="957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B2BEFC3C-B805-F85B-14CF-F347CE7272D7}"/>
                  </a:ext>
                </a:extLst>
              </p14:cNvPr>
              <p14:cNvContentPartPr/>
              <p14:nvPr/>
            </p14:nvContentPartPr>
            <p14:xfrm>
              <a:off x="3099818" y="10964953"/>
              <a:ext cx="413315" cy="493595"/>
            </p14:xfrm>
          </p:contentPart>
        </mc:Choice>
        <mc:Fallback xmlns=""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B2BEFC3C-B805-F85B-14CF-F347CE7272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77496" y="10942631"/>
                <a:ext cx="457239" cy="537878"/>
              </a:xfrm>
              <a:prstGeom prst="rect">
                <a:avLst/>
              </a:prstGeom>
            </p:spPr>
          </p:pic>
        </mc:Fallback>
      </mc:AlternateContent>
      <p:sp>
        <p:nvSpPr>
          <p:cNvPr id="44" name="文本框 43">
            <a:extLst>
              <a:ext uri="{FF2B5EF4-FFF2-40B4-BE49-F238E27FC236}">
                <a16:creationId xmlns:a16="http://schemas.microsoft.com/office/drawing/2014/main" id="{4874DA33-10EE-AAD6-43A6-715E21A5C1B6}"/>
              </a:ext>
            </a:extLst>
          </p:cNvPr>
          <p:cNvSpPr txBox="1"/>
          <p:nvPr/>
        </p:nvSpPr>
        <p:spPr>
          <a:xfrm>
            <a:off x="720181" y="11417978"/>
            <a:ext cx="1781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乼	</a:t>
            </a:r>
            <a:r>
              <a:rPr lang="en-US" altLang="zh-CN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⿱⿰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氵主</a:t>
            </a:r>
            <a:r>
              <a:rPr lang="en-US" altLang="zh-CN" sz="16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s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乙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叐	</a:t>
            </a:r>
            <a:r>
              <a:rPr lang="en-US" altLang="zh-CN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⿸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千</a:t>
            </a:r>
            <a:r>
              <a:rPr lang="en-US" altLang="zh-CN" sz="16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p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乂</a:t>
            </a:r>
            <a:endParaRPr lang="zh-CN" altLang="en-US" sz="1100" strike="sngStrike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AAFA0E8-D70C-3D81-80BC-A97F797C5637}"/>
              </a:ext>
            </a:extLst>
          </p:cNvPr>
          <p:cNvSpPr/>
          <p:nvPr/>
        </p:nvSpPr>
        <p:spPr>
          <a:xfrm>
            <a:off x="881086" y="11456961"/>
            <a:ext cx="104749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3963480-8215-05E4-735A-A16595E8D3C0}"/>
              </a:ext>
            </a:extLst>
          </p:cNvPr>
          <p:cNvCxnSpPr>
            <a:cxnSpLocks/>
          </p:cNvCxnSpPr>
          <p:nvPr/>
        </p:nvCxnSpPr>
        <p:spPr>
          <a:xfrm>
            <a:off x="935445" y="11484769"/>
            <a:ext cx="0" cy="9576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644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FA94F422-51E1-540B-5761-78D7B0D8D7D9}"/>
              </a:ext>
            </a:extLst>
          </p:cNvPr>
          <p:cNvSpPr txBox="1"/>
          <p:nvPr/>
        </p:nvSpPr>
        <p:spPr>
          <a:xfrm>
            <a:off x="657952" y="428967"/>
            <a:ext cx="4721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s2 </a:t>
            </a:r>
            <a:r>
              <a:rPr lang="zh-CN" altLang="en-US" sz="1600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连接符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CA102A6-62DF-E00F-8658-4AB74ED8EA6C}"/>
              </a:ext>
            </a:extLst>
          </p:cNvPr>
          <p:cNvSpPr txBox="1"/>
          <p:nvPr/>
        </p:nvSpPr>
        <p:spPr>
          <a:xfrm>
            <a:off x="628646" y="739107"/>
            <a:ext cx="54204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正则：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\(?-\)?</a:t>
            </a:r>
            <a:endParaRPr lang="zh-CN" altLang="en-US" sz="1200" dirty="0">
              <a:solidFill>
                <a:srgbClr val="C00000"/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B48655D-CA93-6524-3E1A-8740EE2971B3}"/>
              </a:ext>
            </a:extLst>
          </p:cNvPr>
          <p:cNvSpPr txBox="1"/>
          <p:nvPr/>
        </p:nvSpPr>
        <p:spPr>
          <a:xfrm>
            <a:off x="628646" y="1016106"/>
            <a:ext cx="5420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连接符用负号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-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表示，前面有连接符的笔画要倒着写。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例：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7F00EB-7491-6CB0-14C9-9AF0D9A3FBCB}"/>
              </a:ext>
            </a:extLst>
          </p:cNvPr>
          <p:cNvSpPr txBox="1"/>
          <p:nvPr/>
        </p:nvSpPr>
        <p:spPr>
          <a:xfrm>
            <a:off x="1552938" y="1532173"/>
            <a:ext cx="37521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岛    ⿱丿⿹⿴＃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(</a:t>
            </a:r>
            <a:r>
              <a:rPr lang="en-US" altLang="zh-CN" sz="20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-</a:t>
            </a:r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𠃌㇉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)</a:t>
            </a:r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丶山</a:t>
            </a:r>
            <a:endParaRPr lang="en-US" altLang="zh-CN" sz="20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母    ⿻⿴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#(</a:t>
            </a:r>
            <a:r>
              <a:rPr lang="en-US" altLang="zh-CN" sz="20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-</a:t>
            </a:r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𠃌𠃊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x</a:t>
            </a:r>
            <a:r>
              <a:rPr lang="en-US" altLang="zh-CN" sz="2000" dirty="0">
                <a:latin typeface="遍黑体P2" panose="02010500060101010101" pitchFamily="2" charset="-122"/>
                <a:ea typeface="遍黑体P2" panose="02010500060101010101" pitchFamily="2" charset="-122"/>
                <a:cs typeface="更纱黑体 UI SC" panose="02000500000000000000" pitchFamily="2" charset="-122"/>
              </a:rPr>
              <a:t>0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)⺀</a:t>
            </a:r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一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563536-00DA-BB16-9DD9-2BF3592E7FE2}"/>
              </a:ext>
            </a:extLst>
          </p:cNvPr>
          <p:cNvSpPr txBox="1"/>
          <p:nvPr/>
        </p:nvSpPr>
        <p:spPr>
          <a:xfrm>
            <a:off x="657952" y="2352929"/>
            <a:ext cx="5420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连接符对曲线也适用。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例：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DB0D356-A6BF-DE93-A5AA-37EDBE8C21C4}"/>
              </a:ext>
            </a:extLst>
          </p:cNvPr>
          <p:cNvSpPr txBox="1"/>
          <p:nvPr/>
        </p:nvSpPr>
        <p:spPr>
          <a:xfrm>
            <a:off x="1627114" y="2816894"/>
            <a:ext cx="3493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𡆢</a:t>
            </a:r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  ⿴囗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#(</a:t>
            </a:r>
            <a:r>
              <a:rPr lang="en-US" altLang="zh-CN" sz="2000" b="1" dirty="0">
                <a:latin typeface="HanaMinA" panose="02000609000000000000" pitchFamily="49" charset="-128"/>
                <a:ea typeface="HanaMinA" panose="02000609000000000000" pitchFamily="49" charset="-128"/>
                <a:cs typeface="更纱黑体 UI SC" panose="02000500000000000000" pitchFamily="2" charset="-122"/>
              </a:rPr>
              <a:t>◞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x3</a:t>
            </a:r>
            <a:r>
              <a:rPr lang="en-US" altLang="zh-CN" sz="2000" b="1" dirty="0">
                <a:latin typeface="HanaMinA" panose="02000609000000000000" pitchFamily="49" charset="-128"/>
                <a:ea typeface="HanaMinA" panose="02000609000000000000" pitchFamily="49" charset="-128"/>
                <a:cs typeface="更纱黑体 UI SC" panose="02000500000000000000" pitchFamily="2" charset="-122"/>
              </a:rPr>
              <a:t>◟◜◝</a:t>
            </a:r>
            <a:r>
              <a:rPr lang="en-US" altLang="zh-CN" sz="20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-</a:t>
            </a:r>
            <a:r>
              <a:rPr lang="en-US" altLang="zh-CN" sz="2000" b="1" dirty="0">
                <a:latin typeface="HanaMinA" panose="02000609000000000000" pitchFamily="49" charset="-128"/>
                <a:ea typeface="HanaMinA" panose="02000609000000000000" pitchFamily="49" charset="-128"/>
                <a:cs typeface="更纱黑体 UI SC" panose="02000500000000000000" pitchFamily="2" charset="-122"/>
              </a:rPr>
              <a:t>◟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)</a:t>
            </a:r>
            <a:endParaRPr lang="zh-CN" altLang="en-US" sz="20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CD0DDC1-A7D3-62B5-EAF0-FB97C3BFC46D}"/>
              </a:ext>
            </a:extLst>
          </p:cNvPr>
          <p:cNvSpPr txBox="1"/>
          <p:nvPr/>
        </p:nvSpPr>
        <p:spPr>
          <a:xfrm>
            <a:off x="628646" y="3462064"/>
            <a:ext cx="4721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s3 </a:t>
            </a:r>
            <a:r>
              <a:rPr lang="zh-CN" altLang="en-US" sz="1600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曲线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4966E72-FF82-3DF9-5E70-927CB44F90AE}"/>
              </a:ext>
            </a:extLst>
          </p:cNvPr>
          <p:cNvSpPr txBox="1"/>
          <p:nvPr/>
        </p:nvSpPr>
        <p:spPr>
          <a:xfrm>
            <a:off x="657952" y="3884822"/>
            <a:ext cx="54204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正则：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HanaMinA" panose="02000609000000000000" pitchFamily="49" charset="-128"/>
                <a:ea typeface="HanaMinA" panose="02000609000000000000" pitchFamily="49" charset="-128"/>
                <a:cs typeface="更纱黑体 UI SC" panose="02000500000000000000" pitchFamily="2" charset="-122"/>
              </a:rPr>
              <a:t>◝◞◟◜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+(?:\d{4})*</a:t>
            </a:r>
            <a:endParaRPr lang="zh-CN" altLang="en-US" sz="1200" dirty="0">
              <a:solidFill>
                <a:srgbClr val="C00000"/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pic>
        <p:nvPicPr>
          <p:cNvPr id="31" name="图片 30" descr="图标&#10;&#10;描述已自动生成">
            <a:extLst>
              <a:ext uri="{FF2B5EF4-FFF2-40B4-BE49-F238E27FC236}">
                <a16:creationId xmlns:a16="http://schemas.microsoft.com/office/drawing/2014/main" id="{056712D9-5D69-6A4A-7DAE-8EB875073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068" y="5024545"/>
            <a:ext cx="926840" cy="72644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8B50DCC3-5ADC-6F9D-868D-B70CB9D83B7D}"/>
              </a:ext>
            </a:extLst>
          </p:cNvPr>
          <p:cNvSpPr txBox="1"/>
          <p:nvPr/>
        </p:nvSpPr>
        <p:spPr>
          <a:xfrm>
            <a:off x="1647935" y="5614276"/>
            <a:ext cx="35686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Plangothic P2" panose="02010500060101010101" pitchFamily="2" charset="-122"/>
                <a:ea typeface="Plangothic P2" panose="02010500060101010101" pitchFamily="2" charset="-122"/>
                <a:cs typeface="更纱黑体 UI SC" panose="02000500000000000000" pitchFamily="2" charset="-122"/>
              </a:rPr>
              <a:t>WS202100002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：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ctr"/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#(</a:t>
            </a:r>
            <a:r>
              <a:rPr lang="en-US" altLang="zh-CN" sz="1200" dirty="0">
                <a:solidFill>
                  <a:srgbClr val="C00000"/>
                </a:solidFill>
                <a:latin typeface="HanaMinA" panose="02000609000000000000" pitchFamily="49" charset="-128"/>
                <a:ea typeface="HanaMinA" panose="02000609000000000000" pitchFamily="49" charset="-128"/>
                <a:cs typeface="更纱黑体 UI SC" panose="02000500000000000000" pitchFamily="2" charset="-122"/>
              </a:rPr>
              <a:t>◞◟◜◝◞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x1</a:t>
            </a:r>
            <a:r>
              <a:rPr lang="en-US" altLang="zh-CN" sz="1200" dirty="0">
                <a:solidFill>
                  <a:srgbClr val="C00000"/>
                </a:solidFill>
                <a:latin typeface="HanaMinA" panose="02000609000000000000" pitchFamily="49" charset="-128"/>
                <a:ea typeface="HanaMinA" panose="02000609000000000000" pitchFamily="49" charset="-128"/>
                <a:cs typeface="更纱黑体 UI SC" panose="02000500000000000000" pitchFamily="2" charset="-122"/>
              </a:rPr>
              <a:t>◟◜◝◞◟◜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x7</a:t>
            </a:r>
            <a:r>
              <a:rPr lang="en-US" altLang="zh-CN" sz="1200" dirty="0">
                <a:solidFill>
                  <a:srgbClr val="C00000"/>
                </a:solidFill>
                <a:latin typeface="HanaMinA" panose="02000609000000000000" pitchFamily="49" charset="-128"/>
                <a:ea typeface="HanaMinA" panose="02000609000000000000" pitchFamily="49" charset="-128"/>
                <a:cs typeface="更纱黑体 UI SC" panose="02000500000000000000" pitchFamily="2" charset="-122"/>
              </a:rPr>
              <a:t>◝◞◟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x5</a:t>
            </a:r>
            <a:r>
              <a:rPr lang="en-US" altLang="zh-CN" sz="1200" dirty="0">
                <a:solidFill>
                  <a:srgbClr val="C00000"/>
                </a:solidFill>
                <a:latin typeface="HanaMinA" panose="02000609000000000000" pitchFamily="49" charset="-128"/>
                <a:ea typeface="HanaMinA" panose="02000609000000000000" pitchFamily="49" charset="-128"/>
                <a:cs typeface="更纱黑体 UI SC" panose="02000500000000000000" pitchFamily="2" charset="-122"/>
              </a:rPr>
              <a:t>◜◝◞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)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E293D34-8275-1CE2-4F75-06F1F3960D3D}"/>
              </a:ext>
            </a:extLst>
          </p:cNvPr>
          <p:cNvSpPr txBox="1"/>
          <p:nvPr/>
        </p:nvSpPr>
        <p:spPr>
          <a:xfrm>
            <a:off x="657952" y="4166383"/>
            <a:ext cx="54204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用</a:t>
            </a:r>
            <a:r>
              <a:rPr lang="zh-CN" altLang="en-US" sz="1200" dirty="0">
                <a:latin typeface="HanaMinA" panose="02000609000000000000" pitchFamily="49" charset="-128"/>
                <a:ea typeface="HanaMinA" panose="02000609000000000000" pitchFamily="49" charset="-128"/>
                <a:cs typeface="更纱黑体 UI SC" panose="02000500000000000000" pitchFamily="2" charset="-122"/>
              </a:rPr>
              <a:t>◝◞◟◜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表示，字面意思。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· 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曲线起始点：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 - 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非首尾相连曲线从顺时针端点开始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 - 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首尾相连曲线从最左下角曲线片段开始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例：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29CDAB9-46EA-9D1A-782F-2E9EDAA7E69D}"/>
              </a:ext>
            </a:extLst>
          </p:cNvPr>
          <p:cNvSpPr txBox="1"/>
          <p:nvPr/>
        </p:nvSpPr>
        <p:spPr>
          <a:xfrm>
            <a:off x="657952" y="6877109"/>
            <a:ext cx="4721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s4 x z b</a:t>
            </a:r>
            <a:r>
              <a:rPr lang="zh-CN" altLang="en-US" sz="1600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标记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7D23D86-7FA3-DF2F-56FE-6F71862246A1}"/>
              </a:ext>
            </a:extLst>
          </p:cNvPr>
          <p:cNvSpPr txBox="1"/>
          <p:nvPr/>
        </p:nvSpPr>
        <p:spPr>
          <a:xfrm>
            <a:off x="718770" y="7215663"/>
            <a:ext cx="54204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正则：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</a:t>
            </a:r>
            <a:r>
              <a:rPr lang="en-US" altLang="zh-CN" sz="1200" b="0" i="0" dirty="0" err="1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xzb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]</a:t>
            </a:r>
            <a:endParaRPr lang="zh-CN" altLang="en-US" sz="1200" dirty="0">
              <a:solidFill>
                <a:srgbClr val="C00000"/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E0C592E-EF44-E11F-7A1A-1BD56C112BD4}"/>
              </a:ext>
            </a:extLst>
          </p:cNvPr>
          <p:cNvSpPr txBox="1"/>
          <p:nvPr/>
        </p:nvSpPr>
        <p:spPr>
          <a:xfrm>
            <a:off x="718770" y="7463017"/>
            <a:ext cx="5420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当曲线或笔画重叠时，在其中一个曲线或笔画后加上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x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，再加上另一个曲线或笔画的编号。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171BEAB-1300-CAFC-32E4-BBC0E96C5E5F}"/>
              </a:ext>
            </a:extLst>
          </p:cNvPr>
          <p:cNvSpPr txBox="1"/>
          <p:nvPr/>
        </p:nvSpPr>
        <p:spPr>
          <a:xfrm>
            <a:off x="718770" y="7872868"/>
            <a:ext cx="5420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</a:t>
            </a:r>
            <a:r>
              <a:rPr lang="en-US" altLang="zh-CN" sz="1200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x </a:t>
            </a:r>
            <a:r>
              <a:rPr lang="zh-CN" altLang="en-US" sz="1200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标记</a:t>
            </a:r>
            <a:endParaRPr lang="en-US" altLang="zh-CN" sz="1200" b="1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- 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曲线或笔画的编号是其在＃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()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表达式中的位置，位置从左往右，从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0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开始。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- 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例：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44B4F76-3788-DA24-2A30-B77E96A99A50}"/>
              </a:ext>
            </a:extLst>
          </p:cNvPr>
          <p:cNvSpPr txBox="1"/>
          <p:nvPr/>
        </p:nvSpPr>
        <p:spPr>
          <a:xfrm>
            <a:off x="1621419" y="8593694"/>
            <a:ext cx="33011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𡆢</a:t>
            </a:r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  ⿴囗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#(</a:t>
            </a:r>
            <a:r>
              <a:rPr lang="en-US" altLang="zh-CN" sz="2000" b="1" dirty="0">
                <a:latin typeface="HanaMinA" panose="02000609000000000000" pitchFamily="49" charset="-128"/>
                <a:ea typeface="HanaMinA" panose="02000609000000000000" pitchFamily="49" charset="-128"/>
                <a:cs typeface="更纱黑体 UI SC" panose="02000500000000000000" pitchFamily="2" charset="-122"/>
              </a:rPr>
              <a:t>◞</a:t>
            </a:r>
            <a:r>
              <a:rPr lang="en-US" altLang="zh-CN" sz="20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x3</a:t>
            </a:r>
            <a:r>
              <a:rPr lang="en-US" altLang="zh-CN" sz="2000" b="1" dirty="0">
                <a:latin typeface="HanaMinA" panose="02000609000000000000" pitchFamily="49" charset="-128"/>
                <a:ea typeface="HanaMinA" panose="02000609000000000000" pitchFamily="49" charset="-128"/>
                <a:cs typeface="更纱黑体 UI SC" panose="02000500000000000000" pitchFamily="2" charset="-122"/>
              </a:rPr>
              <a:t>◟◜◝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-</a:t>
            </a:r>
            <a:r>
              <a:rPr lang="en-US" altLang="zh-CN" sz="2000" b="1" dirty="0">
                <a:latin typeface="HanaMinA" panose="02000609000000000000" pitchFamily="49" charset="-128"/>
                <a:ea typeface="HanaMinA" panose="02000609000000000000" pitchFamily="49" charset="-128"/>
                <a:cs typeface="更纱黑体 UI SC" panose="02000500000000000000" pitchFamily="2" charset="-122"/>
              </a:rPr>
              <a:t>◟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)</a:t>
            </a:r>
            <a:endParaRPr lang="zh-CN" altLang="en-US" sz="20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CAC9128-FF03-BA2B-0D05-1AE5A4FC76AA}"/>
              </a:ext>
            </a:extLst>
          </p:cNvPr>
          <p:cNvSpPr txBox="1"/>
          <p:nvPr/>
        </p:nvSpPr>
        <p:spPr>
          <a:xfrm>
            <a:off x="2991436" y="8861772"/>
            <a:ext cx="1689886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0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    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1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2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3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4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47" name="箭头: 下弧形 46">
            <a:extLst>
              <a:ext uri="{FF2B5EF4-FFF2-40B4-BE49-F238E27FC236}">
                <a16:creationId xmlns:a16="http://schemas.microsoft.com/office/drawing/2014/main" id="{B57795DF-EAB6-6667-B309-28D1BD88BC42}"/>
              </a:ext>
            </a:extLst>
          </p:cNvPr>
          <p:cNvSpPr/>
          <p:nvPr/>
        </p:nvSpPr>
        <p:spPr>
          <a:xfrm flipV="1">
            <a:off x="3155950" y="8412922"/>
            <a:ext cx="1134111" cy="233658"/>
          </a:xfrm>
          <a:prstGeom prst="curvedUpArrow">
            <a:avLst>
              <a:gd name="adj1" fmla="val 28230"/>
              <a:gd name="adj2" fmla="val 46672"/>
              <a:gd name="adj3" fmla="val 33203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AB0A3D2-810A-0D97-9F78-4E26C9AADC82}"/>
              </a:ext>
            </a:extLst>
          </p:cNvPr>
          <p:cNvSpPr txBox="1"/>
          <p:nvPr/>
        </p:nvSpPr>
        <p:spPr>
          <a:xfrm>
            <a:off x="1969635" y="9388569"/>
            <a:ext cx="29187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母</a:t>
            </a:r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  ⿻⿴</a:t>
            </a:r>
            <a:r>
              <a:rPr lang="en-US" altLang="zh-CN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#(-</a:t>
            </a:r>
            <a:r>
              <a:rPr lang="zh-CN" altLang="en-US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𠃌𠃊</a:t>
            </a:r>
            <a:r>
              <a:rPr lang="en-US" altLang="zh-CN" sz="2000" dirty="0">
                <a:solidFill>
                  <a:srgbClr val="C00000"/>
                </a:solidFill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x0</a:t>
            </a:r>
            <a:r>
              <a:rPr lang="en-US" altLang="zh-CN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)</a:t>
            </a:r>
            <a:r>
              <a:rPr lang="zh-CN" altLang="en-US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⺀一</a:t>
            </a:r>
            <a:endParaRPr lang="zh-CN" altLang="en-US" sz="20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C465475-3523-B74C-2882-1AF8EAF32F2E}"/>
              </a:ext>
            </a:extLst>
          </p:cNvPr>
          <p:cNvSpPr txBox="1"/>
          <p:nvPr/>
        </p:nvSpPr>
        <p:spPr>
          <a:xfrm>
            <a:off x="3428999" y="9664291"/>
            <a:ext cx="52770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0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1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50" name="箭头: 下弧形 49">
            <a:extLst>
              <a:ext uri="{FF2B5EF4-FFF2-40B4-BE49-F238E27FC236}">
                <a16:creationId xmlns:a16="http://schemas.microsoft.com/office/drawing/2014/main" id="{D78CEFC1-61F8-F845-FBFC-3BBD0C07A226}"/>
              </a:ext>
            </a:extLst>
          </p:cNvPr>
          <p:cNvSpPr/>
          <p:nvPr/>
        </p:nvSpPr>
        <p:spPr>
          <a:xfrm flipH="1" flipV="1">
            <a:off x="3471042" y="9190580"/>
            <a:ext cx="329866" cy="233658"/>
          </a:xfrm>
          <a:prstGeom prst="curvedUpArrow">
            <a:avLst>
              <a:gd name="adj1" fmla="val 28230"/>
              <a:gd name="adj2" fmla="val 46672"/>
              <a:gd name="adj3" fmla="val 33203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4064FC6-FFBD-6B62-2980-7ABA818ED501}"/>
              </a:ext>
            </a:extLst>
          </p:cNvPr>
          <p:cNvSpPr txBox="1"/>
          <p:nvPr/>
        </p:nvSpPr>
        <p:spPr>
          <a:xfrm>
            <a:off x="718770" y="9976922"/>
            <a:ext cx="5420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</a:t>
            </a:r>
            <a:r>
              <a:rPr lang="en-US" altLang="zh-CN" sz="1200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z </a:t>
            </a:r>
            <a:r>
              <a:rPr lang="zh-CN" altLang="en-US" sz="1200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标记</a:t>
            </a:r>
            <a:endParaRPr lang="en-US" altLang="zh-CN" sz="1200" b="1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-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当曲线或笔画首尾相连时，在＃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()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表达式末尾加上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z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。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- 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例：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92CCA40-039D-9B49-1879-F599271B2B53}"/>
              </a:ext>
            </a:extLst>
          </p:cNvPr>
          <p:cNvSpPr txBox="1"/>
          <p:nvPr/>
        </p:nvSpPr>
        <p:spPr>
          <a:xfrm>
            <a:off x="2462016" y="10681906"/>
            <a:ext cx="19339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口  </a:t>
            </a:r>
            <a:r>
              <a:rPr lang="en-US" altLang="zh-CN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#(-</a:t>
            </a:r>
            <a:r>
              <a:rPr lang="zh-CN" altLang="en-US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丨𠃍</a:t>
            </a:r>
            <a:r>
              <a:rPr lang="en-US" altLang="zh-CN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-</a:t>
            </a:r>
            <a:r>
              <a:rPr lang="zh-CN" altLang="en-US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一</a:t>
            </a:r>
            <a:r>
              <a:rPr lang="en-US" altLang="zh-CN" sz="2000" dirty="0">
                <a:solidFill>
                  <a:srgbClr val="C00000"/>
                </a:solidFill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z</a:t>
            </a:r>
            <a:r>
              <a:rPr lang="en-US" altLang="zh-CN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)</a:t>
            </a:r>
            <a:endParaRPr lang="zh-CN" altLang="en-US" sz="20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7DF595C-8C1B-D52F-56D7-D0BD74DCAB6D}"/>
              </a:ext>
            </a:extLst>
          </p:cNvPr>
          <p:cNvSpPr txBox="1"/>
          <p:nvPr/>
        </p:nvSpPr>
        <p:spPr>
          <a:xfrm>
            <a:off x="2418024" y="11060458"/>
            <a:ext cx="21281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〇    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#(</a:t>
            </a:r>
            <a:r>
              <a:rPr lang="en-US" altLang="zh-CN" sz="2000" b="1" dirty="0">
                <a:latin typeface="HanaMinA" panose="02000609000000000000" pitchFamily="49" charset="-128"/>
                <a:ea typeface="HanaMinA" panose="02000609000000000000" pitchFamily="49" charset="-128"/>
                <a:cs typeface="更纱黑体 UI SC" panose="02000500000000000000" pitchFamily="2" charset="-122"/>
              </a:rPr>
              <a:t>◟◜◝◞</a:t>
            </a:r>
            <a:r>
              <a:rPr lang="en-US" altLang="zh-CN" sz="20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z</a:t>
            </a:r>
            <a:r>
              <a:rPr lang="en-US" altLang="zh-CN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)</a:t>
            </a:r>
            <a:endParaRPr lang="zh-CN" altLang="en-US" sz="20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ACF377-CB0F-3CA6-CFBB-152174A604ED}"/>
              </a:ext>
            </a:extLst>
          </p:cNvPr>
          <p:cNvSpPr txBox="1"/>
          <p:nvPr/>
        </p:nvSpPr>
        <p:spPr>
          <a:xfrm>
            <a:off x="718770" y="6015586"/>
            <a:ext cx="5420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*</a:t>
            </a:r>
            <a:r>
              <a:rPr lang="zh-CN" altLang="en-US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曲线起始点</a:t>
            </a:r>
            <a:endParaRPr lang="en-US" altLang="zh-CN" sz="1200" b="0" i="0" dirty="0">
              <a:solidFill>
                <a:srgbClr val="18191C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非首尾相连曲线从顺时针端点开始</a:t>
            </a:r>
            <a:endParaRPr lang="en-US" altLang="zh-CN" sz="1200" b="0" i="0" dirty="0">
              <a:solidFill>
                <a:srgbClr val="18191C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首尾相连曲线从最左下角曲线片段开始</a:t>
            </a:r>
            <a:endParaRPr lang="zh-CN" altLang="en-US" sz="1200" dirty="0">
              <a:solidFill>
                <a:srgbClr val="C00000"/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7955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2124C73-26FA-CCE7-24F2-161CD0F5320A}"/>
              </a:ext>
            </a:extLst>
          </p:cNvPr>
          <p:cNvSpPr txBox="1"/>
          <p:nvPr/>
        </p:nvSpPr>
        <p:spPr>
          <a:xfrm>
            <a:off x="2265711" y="6422071"/>
            <a:ext cx="21463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由：⿻</a:t>
            </a:r>
            <a:r>
              <a:rPr lang="en-US" altLang="zh-CN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[:-1]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丨日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ctr"/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甲：⿻</a:t>
            </a:r>
            <a:r>
              <a:rPr lang="en-US" altLang="zh-CN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[1:]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丨日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ctr"/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申：⿻丨日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ctr"/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甴：⿻</a:t>
            </a:r>
            <a:r>
              <a:rPr lang="en-US" altLang="zh-CN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[:-2]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丨日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ctr"/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曱：⿻</a:t>
            </a:r>
            <a:r>
              <a:rPr lang="en-US" altLang="zh-CN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[2:]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丨日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EF20C53-EFAA-A568-A595-799500DE4CFF}"/>
              </a:ext>
            </a:extLst>
          </p:cNvPr>
          <p:cNvSpPr txBox="1"/>
          <p:nvPr/>
        </p:nvSpPr>
        <p:spPr>
          <a:xfrm>
            <a:off x="628644" y="7831709"/>
            <a:ext cx="542045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在普通的</a:t>
            </a:r>
            <a:r>
              <a:rPr lang="zh-CN" altLang="en-US" sz="12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⿻</a:t>
            </a:r>
            <a:r>
              <a:rPr lang="en-US" altLang="zh-CN" sz="12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. . 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句中，第一个汉字（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A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）贯穿第二个汉字（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B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）。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 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• [:-1]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表示 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A 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出头，到 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B 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的最后一横。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 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• [:-2]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表示 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A 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出头，到 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B 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的最后第二横。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 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• [1:]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表示 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A 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从 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B 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的第一横开始出头。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 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• [2:]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表示 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A 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从 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B 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的第二横开始出头。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这个语法可以类推为</a:t>
            </a:r>
            <a:r>
              <a:rPr lang="zh-CN" altLang="en-US" sz="12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⿻</a:t>
            </a:r>
            <a:r>
              <a:rPr lang="en-US" altLang="zh-CN" sz="12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</a:t>
            </a:r>
            <a:r>
              <a:rPr lang="en-US" altLang="zh-CN" sz="1200" dirty="0" err="1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x:y</a:t>
            </a:r>
            <a:r>
              <a:rPr lang="en-US" altLang="zh-CN" sz="12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]</a:t>
            </a:r>
            <a:r>
              <a:rPr lang="en-US" altLang="zh-CN" sz="1200" dirty="0" err="1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z₁z</a:t>
            </a:r>
            <a:r>
              <a:rPr lang="en-US" altLang="zh-CN" sz="12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₂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表示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z₁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从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z₂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的第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x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横穿到第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y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横，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x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或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y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为负数时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表示倒数第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x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或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y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横。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200" strike="sngStrike" dirty="0">
                <a:solidFill>
                  <a:schemeClr val="bg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这个语法可以类推为⿻</a:t>
            </a:r>
            <a:r>
              <a:rPr lang="en-US" altLang="zh-CN" sz="1200" strike="sngStrike" dirty="0">
                <a:solidFill>
                  <a:schemeClr val="bg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[x:-y]AB</a:t>
            </a:r>
            <a:r>
              <a:rPr lang="zh-CN" altLang="en-US" sz="1200" strike="sngStrike" dirty="0">
                <a:solidFill>
                  <a:schemeClr val="bg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，其中 </a:t>
            </a:r>
            <a:r>
              <a:rPr lang="en-US" altLang="zh-CN" sz="1200" strike="sngStrike" dirty="0">
                <a:solidFill>
                  <a:schemeClr val="bg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A </a:t>
            </a:r>
            <a:r>
              <a:rPr lang="zh-CN" altLang="en-US" sz="1200" strike="sngStrike" dirty="0">
                <a:solidFill>
                  <a:schemeClr val="bg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从 </a:t>
            </a:r>
            <a:r>
              <a:rPr lang="en-US" altLang="zh-CN" sz="1200" strike="sngStrike" dirty="0">
                <a:solidFill>
                  <a:schemeClr val="bg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B </a:t>
            </a:r>
            <a:r>
              <a:rPr lang="zh-CN" altLang="en-US" sz="1200" strike="sngStrike" dirty="0">
                <a:solidFill>
                  <a:schemeClr val="bg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的第 </a:t>
            </a:r>
            <a:r>
              <a:rPr lang="en-US" altLang="zh-CN" sz="1200" strike="sngStrike" dirty="0">
                <a:solidFill>
                  <a:schemeClr val="bg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x </a:t>
            </a:r>
            <a:r>
              <a:rPr lang="zh-CN" altLang="en-US" sz="1200" strike="sngStrike" dirty="0">
                <a:solidFill>
                  <a:schemeClr val="bg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横到 </a:t>
            </a:r>
            <a:r>
              <a:rPr lang="en-US" altLang="zh-CN" sz="1200" strike="sngStrike" dirty="0">
                <a:solidFill>
                  <a:schemeClr val="bg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B </a:t>
            </a:r>
            <a:r>
              <a:rPr lang="zh-CN" altLang="en-US" sz="1200" strike="sngStrike" dirty="0">
                <a:solidFill>
                  <a:schemeClr val="bg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的最后第 </a:t>
            </a:r>
            <a:r>
              <a:rPr lang="en-US" altLang="zh-CN" sz="1200" strike="sngStrike" dirty="0">
                <a:solidFill>
                  <a:schemeClr val="bg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y </a:t>
            </a:r>
            <a:r>
              <a:rPr lang="zh-CN" altLang="en-US" sz="1200" strike="sngStrike" dirty="0">
                <a:solidFill>
                  <a:schemeClr val="bg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横，而第 </a:t>
            </a:r>
            <a:r>
              <a:rPr lang="en-US" altLang="zh-CN" sz="1200" strike="sngStrike" dirty="0">
                <a:solidFill>
                  <a:schemeClr val="bg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0 </a:t>
            </a:r>
            <a:r>
              <a:rPr lang="zh-CN" altLang="en-US" sz="1200" strike="sngStrike" dirty="0">
                <a:solidFill>
                  <a:schemeClr val="bg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横代表穿 过 </a:t>
            </a:r>
            <a:r>
              <a:rPr lang="en-US" altLang="zh-CN" sz="1200" strike="sngStrike" dirty="0">
                <a:solidFill>
                  <a:schemeClr val="bg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B </a:t>
            </a:r>
            <a:r>
              <a:rPr lang="zh-CN" altLang="en-US" sz="1200" strike="sngStrike" dirty="0">
                <a:solidFill>
                  <a:schemeClr val="bg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的一面。</a:t>
            </a:r>
            <a:endParaRPr lang="en-US" altLang="zh-CN" sz="1200" strike="sngStrike" dirty="0">
              <a:solidFill>
                <a:schemeClr val="bg1">
                  <a:lumMod val="50000"/>
                </a:schemeClr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- 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直观的：负数是从下往上擦除，正数则是从上往下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F7D2770-67BF-E21E-2EF6-11B119A5680B}"/>
              </a:ext>
            </a:extLst>
          </p:cNvPr>
          <p:cNvSpPr txBox="1"/>
          <p:nvPr/>
        </p:nvSpPr>
        <p:spPr>
          <a:xfrm>
            <a:off x="628648" y="5459232"/>
            <a:ext cx="5420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5. </a:t>
            </a:r>
            <a:r>
              <a:rPr lang="zh-CN" altLang="en-US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重叠标记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AD3050-7B03-59EC-11E1-7D2BDF1B0ADE}"/>
              </a:ext>
            </a:extLst>
          </p:cNvPr>
          <p:cNvSpPr txBox="1"/>
          <p:nvPr/>
        </p:nvSpPr>
        <p:spPr>
          <a:xfrm>
            <a:off x="628644" y="10640175"/>
            <a:ext cx="54204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遍黑体P1" panose="02010500060101010101" pitchFamily="2" charset="-128"/>
                <a:ea typeface="遍黑体P1" panose="02010500060101010101" pitchFamily="2" charset="-128"/>
                <a:cs typeface="更纱黑体 UI SC" panose="02000500000000000000" pitchFamily="2" charset="-122"/>
              </a:rPr>
              <a:t>[l], [r], [b], [c], [x], [_], [,], [.] </a:t>
            </a:r>
            <a:endParaRPr lang="zh-CN" altLang="en-US" sz="1200" b="1" dirty="0">
              <a:latin typeface="遍黑体P1" panose="02010500060101010101" pitchFamily="2" charset="-128"/>
              <a:ea typeface="遍黑体P1" panose="02010500060101010101" pitchFamily="2" charset="-128"/>
              <a:cs typeface="更纱黑体 UI SC" panose="02000500000000000000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F12CB7-342F-24AA-13F5-B1BD7BB8606B}"/>
              </a:ext>
            </a:extLst>
          </p:cNvPr>
          <p:cNvSpPr txBox="1"/>
          <p:nvPr/>
        </p:nvSpPr>
        <p:spPr>
          <a:xfrm>
            <a:off x="628644" y="10912513"/>
            <a:ext cx="5791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[l] </a:t>
            </a:r>
            <a:r>
              <a:rPr lang="en-US" altLang="zh-CN" sz="1200" b="0" i="0" dirty="0">
                <a:solidFill>
                  <a:srgbClr val="18191C"/>
                </a:solidFill>
                <a:effectLst/>
                <a:latin typeface="遍黑体P1" panose="02010500060101010101" pitchFamily="2" charset="-128"/>
                <a:ea typeface="遍黑体P1" panose="02010500060101010101" pitchFamily="2" charset="-128"/>
                <a:cs typeface="更纱黑体 UI SC" panose="02000500000000000000" pitchFamily="2" charset="-122"/>
              </a:rPr>
              <a:t>l</a:t>
            </a:r>
            <a:r>
              <a:rPr lang="en-US" altLang="zh-CN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eft</a:t>
            </a:r>
            <a:r>
              <a:rPr lang="zh-CN" altLang="en-US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的缩写</a:t>
            </a:r>
            <a:r>
              <a:rPr lang="en-US" altLang="zh-CN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	</a:t>
            </a:r>
            <a:r>
              <a:rPr lang="zh-CN" altLang="en-US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（左）</a:t>
            </a:r>
            <a:endParaRPr lang="en-US" altLang="zh-CN" sz="1200" b="0" i="0" dirty="0">
              <a:solidFill>
                <a:srgbClr val="18191C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en-US" altLang="zh-CN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[r] right</a:t>
            </a:r>
            <a:r>
              <a:rPr lang="zh-CN" altLang="en-US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的缩写（右）</a:t>
            </a:r>
            <a:endParaRPr lang="en-US" altLang="zh-CN" sz="1200" b="0" i="0" dirty="0">
              <a:solidFill>
                <a:srgbClr val="18191C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[b]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从上到下第二位置</a:t>
            </a:r>
            <a:endParaRPr lang="en-US" altLang="zh-CN" sz="1200" b="0" i="0" dirty="0">
              <a:solidFill>
                <a:srgbClr val="18191C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[c]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从上到下第三位置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[x]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默认位置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57521D5-F41B-D26D-C859-B4720341AD51}"/>
              </a:ext>
            </a:extLst>
          </p:cNvPr>
          <p:cNvSpPr txBox="1"/>
          <p:nvPr/>
        </p:nvSpPr>
        <p:spPr>
          <a:xfrm>
            <a:off x="628648" y="6145595"/>
            <a:ext cx="47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0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正则：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\[(?:-?\d+)?:(?:-?\d+)?\]</a:t>
            </a:r>
            <a:endParaRPr lang="zh-CN" altLang="en-US" sz="1200" dirty="0">
              <a:solidFill>
                <a:srgbClr val="C00000"/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1013AD-A109-CBBA-80F1-E1319EB57788}"/>
              </a:ext>
            </a:extLst>
          </p:cNvPr>
          <p:cNvSpPr txBox="1"/>
          <p:nvPr/>
        </p:nvSpPr>
        <p:spPr>
          <a:xfrm>
            <a:off x="628644" y="3663473"/>
            <a:ext cx="3944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大括号里面是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抽象构型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*</a:t>
            </a:r>
          </a:p>
          <a:p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放在那里只是为了除重，不然两个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ID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会有相同的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ids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107E4C1-A43F-1107-19D4-363391395AA7}"/>
              </a:ext>
            </a:extLst>
          </p:cNvPr>
          <p:cNvSpPr txBox="1"/>
          <p:nvPr/>
        </p:nvSpPr>
        <p:spPr>
          <a:xfrm>
            <a:off x="2186951" y="3324919"/>
            <a:ext cx="20730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暅 </a:t>
            </a:r>
            <a:r>
              <a:rPr lang="en-US" altLang="zh-TW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= {?0</a:t>
            </a:r>
            <a:r>
              <a:rPr lang="zh-TW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暅</a:t>
            </a:r>
            <a:r>
              <a:rPr lang="en-US" altLang="zh-TW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}⿰</a:t>
            </a:r>
            <a:r>
              <a:rPr lang="zh-TW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日恆</a:t>
            </a:r>
            <a:r>
              <a:rPr lang="en-US" altLang="zh-TW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(P)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9FF7206-05BB-846D-A517-CD0E855D1BD9}"/>
              </a:ext>
            </a:extLst>
          </p:cNvPr>
          <p:cNvSpPr txBox="1"/>
          <p:nvPr/>
        </p:nvSpPr>
        <p:spPr>
          <a:xfrm>
            <a:off x="533398" y="4234496"/>
            <a:ext cx="5791204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solidFill>
                  <a:schemeClr val="accent1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抽象构型</a:t>
            </a:r>
            <a:r>
              <a:rPr lang="en-US" altLang="zh-CN" sz="1050" dirty="0">
                <a:solidFill>
                  <a:schemeClr val="accent1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*</a:t>
            </a:r>
          </a:p>
          <a:p>
            <a:r>
              <a:rPr lang="en-US" altLang="zh-CN" sz="1000" dirty="0">
                <a:solidFill>
                  <a:schemeClr val="tx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"</a:t>
            </a:r>
            <a:r>
              <a:rPr lang="zh-CN" altLang="en-US" sz="1000" dirty="0">
                <a:solidFill>
                  <a:schemeClr val="tx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抽象构型</a:t>
            </a:r>
            <a:r>
              <a:rPr lang="en-US" altLang="zh-CN" sz="1000" dirty="0">
                <a:solidFill>
                  <a:schemeClr val="tx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"</a:t>
            </a:r>
            <a:r>
              <a:rPr lang="zh-CN" altLang="en-US" sz="1000" dirty="0">
                <a:solidFill>
                  <a:schemeClr val="tx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可能指的是一种抽象化的符号表示，用于区分不同的字形或具体的构造方式。</a:t>
            </a:r>
            <a:endParaRPr lang="en-US" altLang="zh-CN" sz="1000" dirty="0">
              <a:solidFill>
                <a:schemeClr val="tx1">
                  <a:lumMod val="50000"/>
                </a:schemeClr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000" dirty="0">
                <a:solidFill>
                  <a:schemeClr val="tx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在汉字表意文字描述序列中，可能存在一些相似的构造方式，为了区分它们，可以使用抽象的构型来作为识别码。</a:t>
            </a:r>
            <a:endParaRPr lang="en-US" altLang="zh-CN" sz="1000" dirty="0">
              <a:solidFill>
                <a:schemeClr val="tx1">
                  <a:lumMod val="50000"/>
                </a:schemeClr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000" dirty="0">
                <a:solidFill>
                  <a:schemeClr val="tx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这样即使两个汉字的实际形式相似，但它们的抽象构型不同，就能保证拥有不同的</a:t>
            </a:r>
            <a:r>
              <a:rPr lang="en-US" altLang="zh-CN" sz="1000" dirty="0">
                <a:solidFill>
                  <a:schemeClr val="tx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ID</a:t>
            </a:r>
            <a:r>
              <a:rPr lang="zh-CN" altLang="en-US" sz="1000" dirty="0">
                <a:solidFill>
                  <a:schemeClr val="tx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。</a:t>
            </a:r>
            <a:endParaRPr lang="en-US" altLang="zh-CN" sz="1000" dirty="0">
              <a:solidFill>
                <a:schemeClr val="tx1">
                  <a:lumMod val="50000"/>
                </a:schemeClr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000" dirty="0">
                <a:solidFill>
                  <a:schemeClr val="tx1">
                    <a:lumMod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这样的抽象构型可以帮助区分不同字形，提高字符识别的准确性。</a:t>
            </a:r>
            <a:endParaRPr lang="en-US" altLang="zh-CN" sz="1000" dirty="0">
              <a:solidFill>
                <a:schemeClr val="tx1">
                  <a:lumMod val="50000"/>
                </a:schemeClr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9699A58-F277-2E00-8C23-19F4251463D5}"/>
              </a:ext>
            </a:extLst>
          </p:cNvPr>
          <p:cNvSpPr txBox="1"/>
          <p:nvPr/>
        </p:nvSpPr>
        <p:spPr>
          <a:xfrm>
            <a:off x="628644" y="3015615"/>
            <a:ext cx="5420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4. </a:t>
            </a:r>
            <a:r>
              <a:rPr lang="zh-CN" altLang="en-US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大括号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957AED7-3D68-BB5B-8B9F-1C34A75EBFA1}"/>
              </a:ext>
            </a:extLst>
          </p:cNvPr>
          <p:cNvSpPr txBox="1"/>
          <p:nvPr/>
        </p:nvSpPr>
        <p:spPr>
          <a:xfrm>
            <a:off x="718771" y="112680"/>
            <a:ext cx="5420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</a:t>
            </a:r>
            <a:r>
              <a:rPr lang="en-US" altLang="zh-CN" sz="1200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b </a:t>
            </a:r>
            <a:r>
              <a:rPr lang="zh-CN" altLang="en-US" sz="1200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标记</a:t>
            </a:r>
            <a:endParaRPr lang="en-US" altLang="zh-CN" sz="1200" b="1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- </a:t>
            </a:r>
            <a:r>
              <a:rPr lang="en-US" altLang="zh-CN" sz="12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break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的缩写，用于防止同分导构。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- 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例如“凹”的其中一个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IDS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是：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BC4A963-2813-E6D6-BC40-D0A27052A42E}"/>
              </a:ext>
            </a:extLst>
          </p:cNvPr>
          <p:cNvSpPr txBox="1"/>
          <p:nvPr/>
        </p:nvSpPr>
        <p:spPr>
          <a:xfrm>
            <a:off x="1773931" y="679165"/>
            <a:ext cx="33101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凹</a:t>
            </a:r>
            <a:r>
              <a:rPr lang="zh-CN" altLang="en-US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 </a:t>
            </a:r>
            <a:r>
              <a:rPr lang="en-US" altLang="zh-CN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#(</a:t>
            </a:r>
            <a:r>
              <a:rPr lang="zh-CN" altLang="en-US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一</a:t>
            </a:r>
            <a:r>
              <a:rPr lang="en-US" altLang="zh-CN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-</a:t>
            </a:r>
            <a:r>
              <a:rPr lang="zh-CN" altLang="en-US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𠃍丨</a:t>
            </a:r>
            <a:r>
              <a:rPr lang="en-US" altLang="zh-CN" sz="2000" dirty="0">
                <a:solidFill>
                  <a:srgbClr val="C00000"/>
                </a:solidFill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b</a:t>
            </a:r>
            <a:r>
              <a:rPr lang="zh-CN" altLang="en-US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一</a:t>
            </a:r>
            <a:r>
              <a:rPr lang="en-US" altLang="zh-CN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-</a:t>
            </a:r>
            <a:r>
              <a:rPr lang="zh-CN" altLang="en-US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𠃍丨</a:t>
            </a:r>
            <a:r>
              <a:rPr lang="en-US" altLang="zh-CN" sz="2000" dirty="0">
                <a:solidFill>
                  <a:srgbClr val="C00000"/>
                </a:solidFill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b</a:t>
            </a:r>
            <a:r>
              <a:rPr lang="zh-CN" altLang="en-US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一</a:t>
            </a:r>
            <a:r>
              <a:rPr lang="en-US" altLang="zh-CN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)</a:t>
            </a:r>
            <a:endParaRPr lang="zh-CN" altLang="en-US" sz="20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5970D08-4C81-4379-BDCE-2DD708E1B2CE}"/>
              </a:ext>
            </a:extLst>
          </p:cNvPr>
          <p:cNvSpPr txBox="1"/>
          <p:nvPr/>
        </p:nvSpPr>
        <p:spPr>
          <a:xfrm>
            <a:off x="718771" y="1026974"/>
            <a:ext cx="54204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而不是：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5292A38-5A5B-B222-E6D5-2FC752C1EC59}"/>
              </a:ext>
            </a:extLst>
          </p:cNvPr>
          <p:cNvSpPr txBox="1"/>
          <p:nvPr/>
        </p:nvSpPr>
        <p:spPr>
          <a:xfrm>
            <a:off x="1773931" y="1303973"/>
            <a:ext cx="33101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凹</a:t>
            </a:r>
            <a:r>
              <a:rPr lang="zh-CN" altLang="en-US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 </a:t>
            </a:r>
            <a:r>
              <a:rPr lang="en-US" altLang="zh-CN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#(</a:t>
            </a:r>
            <a:r>
              <a:rPr lang="zh-CN" altLang="en-US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一</a:t>
            </a:r>
            <a:r>
              <a:rPr lang="en-US" altLang="zh-CN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-</a:t>
            </a:r>
            <a:r>
              <a:rPr lang="zh-CN" altLang="en-US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𠃍丨一</a:t>
            </a:r>
            <a:r>
              <a:rPr lang="en-US" altLang="zh-CN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-</a:t>
            </a:r>
            <a:r>
              <a:rPr lang="zh-CN" altLang="en-US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𠃍丨一</a:t>
            </a:r>
            <a:r>
              <a:rPr lang="en-US" altLang="zh-CN" sz="20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)</a:t>
            </a:r>
            <a:endParaRPr lang="zh-CN" altLang="en-US" sz="20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5AF1097-53E1-92A4-2E80-24DDF49ED84F}"/>
              </a:ext>
            </a:extLst>
          </p:cNvPr>
          <p:cNvSpPr txBox="1"/>
          <p:nvPr/>
        </p:nvSpPr>
        <p:spPr>
          <a:xfrm>
            <a:off x="628648" y="5831293"/>
            <a:ext cx="47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s1 </a:t>
            </a:r>
            <a:r>
              <a:rPr lang="zh-CN" altLang="en-US" sz="1200" b="1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一般重叠标记</a:t>
            </a:r>
            <a:endParaRPr lang="zh-CN" altLang="en-US" sz="1200" b="1" dirty="0">
              <a:solidFill>
                <a:srgbClr val="C00000"/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553F926-60FB-4933-40D8-C8C499B9F332}"/>
              </a:ext>
            </a:extLst>
          </p:cNvPr>
          <p:cNvSpPr txBox="1"/>
          <p:nvPr/>
        </p:nvSpPr>
        <p:spPr>
          <a:xfrm>
            <a:off x="628644" y="10320038"/>
            <a:ext cx="47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S2 </a:t>
            </a:r>
            <a:r>
              <a:rPr lang="zh-CN" altLang="en-US" sz="1200" b="1" i="0" dirty="0">
                <a:solidFill>
                  <a:srgbClr val="18191C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特殊重叠标记</a:t>
            </a:r>
            <a:endParaRPr lang="zh-CN" altLang="en-US" sz="1200" b="1" dirty="0">
              <a:solidFill>
                <a:srgbClr val="C00000"/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2EAF28B9-CC06-35DA-CD87-D332AD0DD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08" y="1760126"/>
            <a:ext cx="1169290" cy="1169290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6B7B1CC4-922C-887C-2366-CA9AD44F4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44" y="1757776"/>
            <a:ext cx="1169290" cy="116929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5C8E9483-D0DE-DF3C-9098-B98C767DEFD2}"/>
              </a:ext>
            </a:extLst>
          </p:cNvPr>
          <p:cNvSpPr txBox="1"/>
          <p:nvPr/>
        </p:nvSpPr>
        <p:spPr>
          <a:xfrm>
            <a:off x="718771" y="1645760"/>
            <a:ext cx="54204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如果不使用</a:t>
            </a:r>
            <a:r>
              <a:rPr lang="en-US" altLang="zh-CN" sz="12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b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，则会同到：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#(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一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-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𠃍𠃊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-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𠃍𠃊</a:t>
            </a:r>
            <a:r>
              <a:rPr lang="en-US" altLang="zh-CN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)</a:t>
            </a:r>
            <a:r>
              <a:rPr lang="zh-CN" altLang="en-US" sz="12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，组字会组成下图：</a:t>
            </a:r>
            <a:endParaRPr lang="en-US" altLang="zh-CN" sz="12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438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C8A60CED-AE2E-7A53-01A5-09C7A7806244}"/>
              </a:ext>
            </a:extLst>
          </p:cNvPr>
          <p:cNvSpPr txBox="1"/>
          <p:nvPr/>
        </p:nvSpPr>
        <p:spPr>
          <a:xfrm>
            <a:off x="628644" y="3542543"/>
            <a:ext cx="5791201" cy="8262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b="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特殊重叠标记的格式：</a:t>
            </a:r>
          </a:p>
          <a:p>
            <a:pPr algn="l">
              <a:lnSpc>
                <a:spcPct val="150000"/>
              </a:lnSpc>
            </a:pP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⿻</a:t>
            </a:r>
            <a:r>
              <a:rPr lang="en-US" altLang="zh-CN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[s]</a:t>
            </a:r>
            <a:r>
              <a:rPr lang="zh-CN" altLang="en-US" sz="1200" b="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</a:p>
          <a:p>
            <a:pPr algn="l">
              <a:lnSpc>
                <a:spcPct val="150000"/>
              </a:lnSpc>
            </a:pP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s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为特殊重叠标记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(superimpose)</a:t>
            </a:r>
            <a:endParaRPr lang="zh-CN" altLang="en-US" sz="1200" b="0" i="0" dirty="0">
              <a:solidFill>
                <a:srgbClr val="C00000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当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超过一画时，格式为</a:t>
            </a:r>
          </a:p>
          <a:p>
            <a:pPr algn="l">
              <a:lnSpc>
                <a:spcPct val="150000"/>
              </a:lnSpc>
            </a:pP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⿻</a:t>
            </a:r>
            <a:r>
              <a:rPr lang="en-US" altLang="zh-CN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</a:t>
            </a:r>
            <a:r>
              <a:rPr lang="en-US" altLang="zh-CN" sz="1200" b="0" i="0" dirty="0" err="1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s,s,s</a:t>
            </a:r>
            <a:r>
              <a:rPr lang="en-US" altLang="zh-CN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…]</a:t>
            </a:r>
            <a:r>
              <a:rPr lang="zh-CN" altLang="en-US" sz="1200" b="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</a:p>
          <a:p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中括号中共有</a:t>
            </a:r>
            <a:r>
              <a:rPr lang="en-US" altLang="zh-CN" sz="12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(</a:t>
            </a:r>
            <a:r>
              <a:rPr lang="zh-CN" altLang="en-US" sz="1200" b="1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1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的笔画数</a:t>
            </a:r>
            <a:r>
              <a:rPr lang="en-US" altLang="zh-CN" sz="12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-1)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个逗号，第</a:t>
            </a:r>
            <a:r>
              <a:rPr lang="en-US" altLang="zh-CN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n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个</a:t>
            </a:r>
            <a:r>
              <a:rPr lang="en-US" altLang="zh-CN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s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对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的第</a:t>
            </a:r>
            <a:r>
              <a:rPr lang="en-US" altLang="zh-CN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n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画作用。</a:t>
            </a:r>
            <a:endParaRPr lang="en-US" altLang="zh-CN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200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如果两个逗号中或第一个逗号前或最后一个逗号后没有</a:t>
            </a:r>
            <a:r>
              <a:rPr lang="en-US" altLang="zh-CN" sz="1200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s</a:t>
            </a:r>
            <a:r>
              <a:rPr lang="zh-CN" altLang="en-US" sz="1200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，则表示对应的笔画没有重叠标记</a:t>
            </a:r>
            <a:r>
              <a:rPr lang="zh-CN" altLang="en-US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。</a:t>
            </a:r>
            <a:endParaRPr lang="en-US" altLang="zh-CN" sz="1200" b="0" i="0" dirty="0">
              <a:solidFill>
                <a:schemeClr val="tx2">
                  <a:lumMod val="50000"/>
                  <a:lumOff val="50000"/>
                </a:schemeClr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/>
            <a:endParaRPr lang="en-US" altLang="zh-CN" sz="1200" b="0" i="0" dirty="0">
              <a:solidFill>
                <a:schemeClr val="tx2">
                  <a:lumMod val="50000"/>
                  <a:lumOff val="50000"/>
                </a:schemeClr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/>
            <a:r>
              <a:rPr lang="en-US" altLang="zh-CN" sz="1400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s1 [</a:t>
            </a:r>
            <a:r>
              <a:rPr lang="en-US" altLang="zh-CN" sz="1400" b="1" dirty="0">
                <a:latin typeface="遍黑体P1" panose="02010500060101010101" pitchFamily="2" charset="-128"/>
                <a:ea typeface="遍黑体P1" panose="02010500060101010101" pitchFamily="2" charset="-128"/>
                <a:cs typeface="更纱黑体 UI SC" panose="02000500000000000000" pitchFamily="2" charset="-122"/>
              </a:rPr>
              <a:t>l</a:t>
            </a:r>
            <a:r>
              <a:rPr lang="en-US" altLang="zh-CN" sz="1400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][r][.]</a:t>
            </a:r>
            <a:endParaRPr lang="zh-CN" altLang="en-US" sz="1200" b="0" i="0" dirty="0">
              <a:solidFill>
                <a:schemeClr val="tx2">
                  <a:lumMod val="50000"/>
                  <a:lumOff val="50000"/>
                </a:schemeClr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</a:t>
            </a:r>
            <a:r>
              <a:rPr lang="en-US" altLang="zh-CN" sz="1200" b="1" i="0" dirty="0">
                <a:solidFill>
                  <a:srgbClr val="2F3238"/>
                </a:solidFill>
                <a:effectLst/>
                <a:latin typeface="遍黑体P1" panose="02010500060101010101" pitchFamily="2" charset="-128"/>
                <a:ea typeface="遍黑体P1" panose="02010500060101010101" pitchFamily="2" charset="-128"/>
                <a:cs typeface="更纱黑体 UI SC" panose="02000500000000000000" pitchFamily="2" charset="-122"/>
              </a:rPr>
              <a:t>l</a:t>
            </a:r>
            <a:r>
              <a:rPr lang="zh-CN" altLang="en-US" sz="12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标记：⿻</a:t>
            </a:r>
            <a:r>
              <a:rPr lang="en-US" altLang="zh-CN" sz="12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[l]</a:t>
            </a:r>
            <a:r>
              <a:rPr lang="zh-CN" altLang="en-US" sz="12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</a:p>
          <a:p>
            <a:pPr>
              <a:lnSpc>
                <a:spcPct val="150000"/>
              </a:lnSpc>
            </a:pP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表示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重叠在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的左边</a:t>
            </a:r>
          </a:p>
          <a:p>
            <a:pPr algn="l">
              <a:lnSpc>
                <a:spcPct val="150000"/>
              </a:lnSpc>
            </a:pPr>
            <a:r>
              <a:rPr lang="en-US" altLang="zh-CN" sz="12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r</a:t>
            </a:r>
            <a:r>
              <a:rPr lang="zh-CN" altLang="en-US" sz="12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标记：⿻</a:t>
            </a:r>
            <a:r>
              <a:rPr lang="en-US" altLang="zh-CN" sz="12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[r]</a:t>
            </a:r>
            <a:r>
              <a:rPr lang="zh-CN" altLang="en-US" sz="12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</a:p>
          <a:p>
            <a:pPr>
              <a:lnSpc>
                <a:spcPct val="150000"/>
              </a:lnSpc>
            </a:pP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表示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重叠在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的右边</a:t>
            </a:r>
          </a:p>
          <a:p>
            <a:pPr algn="l">
              <a:lnSpc>
                <a:spcPct val="150000"/>
              </a:lnSpc>
            </a:pPr>
            <a:r>
              <a:rPr lang="en-US" altLang="zh-CN" sz="12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.</a:t>
            </a:r>
            <a:r>
              <a:rPr lang="zh-CN" altLang="en-US" sz="12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标记：⿻</a:t>
            </a:r>
            <a:r>
              <a:rPr lang="en-US" altLang="zh-CN" sz="12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[.]</a:t>
            </a:r>
            <a:r>
              <a:rPr lang="zh-CN" altLang="en-US" sz="12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</a:p>
          <a:p>
            <a:pPr>
              <a:lnSpc>
                <a:spcPct val="150000"/>
              </a:lnSpc>
            </a:pPr>
            <a:r>
              <a:rPr lang="zh-CN" altLang="en-US" sz="120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似乎不能单独使用</a:t>
            </a:r>
            <a:r>
              <a:rPr lang="zh-CN" altLang="en-US" sz="1200" b="0" i="0" dirty="0">
                <a:solidFill>
                  <a:srgbClr val="00B0F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。</a:t>
            </a:r>
            <a:endParaRPr lang="en-US" altLang="zh-CN" sz="1200" b="0" i="0" dirty="0">
              <a:solidFill>
                <a:srgbClr val="00B0F0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</a:t>
            </a:r>
            <a:r>
              <a:rPr lang="zh-CN" altLang="en-US" sz="1200" b="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其表示通配符，表示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自动适配重叠位置</a:t>
            </a:r>
            <a:endParaRPr lang="en-US" altLang="zh-CN" sz="1200" b="0" i="0" dirty="0"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endParaRPr lang="zh-CN" altLang="en-US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b="1" dirty="0">
                <a:solidFill>
                  <a:srgbClr val="2F3238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s</a:t>
            </a:r>
            <a:r>
              <a:rPr lang="en-US" altLang="zh-CN" sz="14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2 b</a:t>
            </a:r>
            <a:r>
              <a:rPr lang="zh-CN" altLang="en-US" sz="14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标记：⿻</a:t>
            </a:r>
            <a:r>
              <a:rPr lang="en-US" altLang="zh-CN" sz="14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[b|_</a:t>
            </a:r>
            <a:r>
              <a:rPr lang="en-US" altLang="zh-CN" sz="1400" b="1" i="0" dirty="0" err="1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b|b</a:t>
            </a:r>
            <a:r>
              <a:rPr lang="en-US" altLang="zh-CN" sz="14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_|_bb_]</a:t>
            </a:r>
            <a:r>
              <a:rPr lang="zh-CN" altLang="en-US" sz="14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4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4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4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</a:p>
          <a:p>
            <a:pPr algn="l">
              <a:lnSpc>
                <a:spcPct val="150000"/>
              </a:lnSpc>
            </a:pPr>
            <a:r>
              <a:rPr lang="zh-CN" altLang="en-US" sz="1200" b="0" i="0" dirty="0">
                <a:solidFill>
                  <a:srgbClr val="00B05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</a:t>
            </a:r>
            <a:r>
              <a:rPr lang="zh-CN" altLang="en-US" sz="1200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</a:t>
            </a:r>
            <a:r>
              <a:rPr lang="en-US" altLang="zh-CN" sz="1200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*</a:t>
            </a:r>
            <a:r>
              <a:rPr lang="zh-CN" altLang="en-US" sz="1200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以下使用“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b</a:t>
            </a:r>
            <a:r>
              <a:rPr lang="en-US" altLang="zh-CN" sz="1200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”</a:t>
            </a:r>
            <a:r>
              <a:rPr lang="zh-CN" altLang="en-US" sz="1200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代指从上到下数的第二个位置</a:t>
            </a:r>
          </a:p>
          <a:p>
            <a:pPr algn="l">
              <a:lnSpc>
                <a:spcPct val="150000"/>
              </a:lnSpc>
            </a:pPr>
            <a:r>
              <a:rPr lang="en-US" altLang="zh-CN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[b]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：</a:t>
            </a:r>
            <a:endParaRPr lang="en-US" altLang="zh-CN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重叠在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b</a:t>
            </a:r>
            <a:r>
              <a:rPr lang="zh-CN" altLang="en-US" sz="1200" dirty="0">
                <a:solidFill>
                  <a:srgbClr val="2F3238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。</a:t>
            </a:r>
            <a:endParaRPr lang="en-US" altLang="zh-CN" sz="1200" dirty="0">
              <a:solidFill>
                <a:srgbClr val="2F3238"/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[_b]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： </a:t>
            </a:r>
            <a:endParaRPr lang="en-US" altLang="zh-CN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重叠在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b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且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的左边与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的左边接触但不重叠。</a:t>
            </a:r>
            <a:endParaRPr lang="en-US" altLang="zh-CN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solidFill>
                  <a:srgbClr val="2F3238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</a:t>
            </a:r>
            <a:r>
              <a:rPr lang="en-US" altLang="zh-CN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[b_]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：</a:t>
            </a:r>
            <a:endParaRPr lang="en-US" altLang="zh-CN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重叠在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b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且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的右边与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的右边接触但不重叠。</a:t>
            </a:r>
          </a:p>
          <a:p>
            <a:pPr algn="l">
              <a:lnSpc>
                <a:spcPct val="150000"/>
              </a:lnSpc>
            </a:pP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</a:t>
            </a:r>
            <a:r>
              <a:rPr lang="en-US" altLang="zh-CN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[_bb_]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：</a:t>
            </a:r>
            <a:endParaRPr lang="en-US" altLang="zh-CN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在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b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重叠，</a:t>
            </a:r>
            <a:endParaRPr lang="en-US" altLang="zh-CN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solidFill>
                  <a:srgbClr val="2F3238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且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的左右两边与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的左右两边有接触但不重叠。</a:t>
            </a:r>
            <a:endParaRPr lang="en-US" altLang="zh-CN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endParaRPr lang="zh-CN" altLang="en-US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·  c</a:t>
            </a:r>
            <a:r>
              <a:rPr lang="zh-CN" altLang="en-US" sz="120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标记同理</a:t>
            </a:r>
            <a:endParaRPr lang="en-US" altLang="zh-CN" sz="1600" i="0" dirty="0"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A60CED-AE2E-7A53-01A5-09C7A7806244}"/>
              </a:ext>
            </a:extLst>
          </p:cNvPr>
          <p:cNvSpPr txBox="1"/>
          <p:nvPr/>
        </p:nvSpPr>
        <p:spPr>
          <a:xfrm>
            <a:off x="1405295" y="659470"/>
            <a:ext cx="3867156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𬼙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 	⿻乚⿻</a:t>
            </a:r>
            <a:r>
              <a:rPr lang="en-US" altLang="zh-CN" sz="16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[l,]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乚⿻𠃊一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包	⿻</a:t>
            </a:r>
            <a:r>
              <a:rPr lang="en-US" altLang="zh-CN" sz="16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</a:t>
            </a:r>
            <a:r>
              <a:rPr lang="en-US" altLang="zh-CN" sz="1600" dirty="0" err="1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l,l</a:t>
            </a:r>
            <a:r>
              <a:rPr lang="en-US" altLang="zh-CN" sz="16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,.]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勹巳</a:t>
            </a:r>
            <a:r>
              <a:rPr lang="en-US" altLang="zh-CN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;⿻</a:t>
            </a:r>
            <a:r>
              <a:rPr lang="en-US" altLang="zh-CN" sz="16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</a:t>
            </a:r>
            <a:r>
              <a:rPr lang="en-US" altLang="zh-CN" sz="1600" dirty="0" err="1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l,l</a:t>
            </a:r>
            <a:r>
              <a:rPr lang="en-US" altLang="zh-CN" sz="16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,.]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勹己</a:t>
            </a:r>
            <a:r>
              <a:rPr lang="en-US" altLang="zh-CN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;⿻</a:t>
            </a:r>
            <a:r>
              <a:rPr lang="en-US" altLang="zh-CN" sz="16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</a:t>
            </a:r>
            <a:r>
              <a:rPr lang="en-US" altLang="zh-CN" sz="1600" dirty="0" err="1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l,l</a:t>
            </a:r>
            <a:r>
              <a:rPr lang="en-US" altLang="zh-CN" sz="16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,.]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勹巳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及	⿻</a:t>
            </a:r>
            <a:r>
              <a:rPr lang="en-US" altLang="zh-CN" sz="16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</a:t>
            </a:r>
            <a:r>
              <a:rPr lang="en-US" altLang="zh-CN" sz="1600" dirty="0" err="1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l,b</a:t>
            </a:r>
            <a:r>
              <a:rPr lang="en-US" altLang="zh-CN" sz="16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]</a:t>
            </a:r>
            <a:r>
              <a:rPr lang="en-US" altLang="zh-CN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㇋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人</a:t>
            </a:r>
            <a:r>
              <a:rPr lang="en-US" altLang="zh-CN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;⿻</a:t>
            </a:r>
            <a:r>
              <a:rPr lang="en-US" altLang="zh-CN" sz="16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[_x]</a:t>
            </a:r>
            <a:r>
              <a:rPr lang="en-US" altLang="zh-CN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⿹㇋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丿丶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帆	</a:t>
            </a:r>
            <a:r>
              <a:rPr lang="en-US" altLang="zh-CN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⿰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巾⿻</a:t>
            </a:r>
            <a:r>
              <a:rPr lang="en-US" altLang="zh-CN" sz="16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[_x]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几一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sz="1600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𠆥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	⿻</a:t>
            </a:r>
            <a:r>
              <a:rPr lang="en-US" altLang="zh-CN" sz="1600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[_b]</a:t>
            </a:r>
            <a:r>
              <a:rPr lang="zh-CN" altLang="en-US" sz="1600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人丿</a:t>
            </a:r>
            <a:endParaRPr lang="en-US" altLang="zh-CN" sz="1600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𠕋</a:t>
            </a:r>
            <a:r>
              <a:rPr lang="zh-CN" altLang="en-US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	⿻</a:t>
            </a:r>
            <a:r>
              <a:rPr lang="en-US" altLang="zh-CN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[_xx_,]</a:t>
            </a:r>
            <a:r>
              <a:rPr lang="zh-CN" altLang="en-US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冊一</a:t>
            </a:r>
            <a:endParaRPr lang="en-US" altLang="zh-CN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𠂂</a:t>
            </a:r>
            <a:r>
              <a:rPr lang="zh-CN" altLang="en-US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	⿱丶⿻</a:t>
            </a:r>
            <a:r>
              <a:rPr lang="en-US" altLang="zh-CN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[b]</a:t>
            </a:r>
            <a:r>
              <a:rPr lang="en-US" altLang="zh-CN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#(-</a:t>
            </a:r>
            <a:r>
              <a:rPr lang="zh-CN" altLang="en-US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丨一</a:t>
            </a:r>
            <a:r>
              <a:rPr lang="en-US" altLang="zh-CN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-</a:t>
            </a:r>
            <a:r>
              <a:rPr lang="zh-CN" altLang="en-US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𠃍𠃑</a:t>
            </a:r>
            <a:r>
              <a:rPr lang="en-US" altLang="zh-CN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)</a:t>
            </a:r>
            <a:r>
              <a:rPr lang="zh-CN" altLang="en-US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一</a:t>
            </a:r>
            <a:endParaRPr lang="en-US" altLang="zh-CN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en-US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𧦮</a:t>
            </a:r>
            <a:r>
              <a:rPr lang="zh-CN" altLang="en-US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	⿰言</a:t>
            </a:r>
            <a:r>
              <a:rPr lang="en-US" altLang="zh-CN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⿻</a:t>
            </a:r>
            <a:r>
              <a:rPr lang="en-US" altLang="zh-CN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[c]</a:t>
            </a:r>
            <a:r>
              <a:rPr lang="zh-CN" altLang="en-US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弓</a:t>
            </a:r>
            <a:r>
              <a:rPr lang="en-US" altLang="zh-CN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z</a:t>
            </a:r>
            <a:r>
              <a:rPr lang="zh-CN" altLang="en-US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乀</a:t>
            </a:r>
            <a:endParaRPr lang="en-US" altLang="zh-CN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r>
              <a:rPr lang="zh-CN" altLang="pt-BR" dirty="0">
                <a:latin typeface="Plangothic P1" panose="02010500060101010101" pitchFamily="2" charset="-128"/>
                <a:ea typeface="Plangothic P1" panose="02010500060101010101" pitchFamily="2" charset="-128"/>
                <a:cs typeface="更纱黑体 UI SC" panose="02000500000000000000" pitchFamily="2" charset="-122"/>
              </a:rPr>
              <a:t>𢀓</a:t>
            </a:r>
            <a:r>
              <a:rPr lang="zh-CN" altLang="pt-BR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  ⿻</a:t>
            </a:r>
            <a:r>
              <a:rPr lang="pt-BR" altLang="zh-CN" dirty="0">
                <a:solidFill>
                  <a:srgbClr val="C00000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[r,r,l,l]</a:t>
            </a:r>
            <a:r>
              <a:rPr lang="zh-CN" altLang="pt-BR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工</a:t>
            </a:r>
            <a:r>
              <a:rPr lang="pt-BR" altLang="zh-CN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#(</a:t>
            </a:r>
            <a:r>
              <a:rPr lang="pt-BR" altLang="zh-CN" dirty="0">
                <a:latin typeface="HanaMinA" panose="02000609000000000000" pitchFamily="49" charset="-128"/>
                <a:ea typeface="HanaMinA" panose="02000609000000000000" pitchFamily="49" charset="-128"/>
                <a:cs typeface="更纱黑体 UI SC" panose="02000500000000000000" pitchFamily="2" charset="-122"/>
              </a:rPr>
              <a:t>◝◞</a:t>
            </a:r>
            <a:r>
              <a:rPr lang="pt-BR" altLang="zh-CN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-</a:t>
            </a:r>
            <a:r>
              <a:rPr lang="pt-BR" altLang="zh-CN" dirty="0">
                <a:latin typeface="HanaMinA" panose="02000609000000000000" pitchFamily="49" charset="-128"/>
                <a:ea typeface="HanaMinA" panose="02000609000000000000" pitchFamily="49" charset="-128"/>
                <a:cs typeface="更纱黑体 UI SC" panose="02000500000000000000" pitchFamily="2" charset="-122"/>
              </a:rPr>
              <a:t>◜</a:t>
            </a:r>
            <a:r>
              <a:rPr lang="pt-BR" altLang="zh-CN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-</a:t>
            </a:r>
            <a:r>
              <a:rPr lang="pt-BR" altLang="zh-CN" dirty="0">
                <a:latin typeface="HanaMinA" panose="02000609000000000000" pitchFamily="49" charset="-128"/>
                <a:ea typeface="HanaMinA" panose="02000609000000000000" pitchFamily="49" charset="-128"/>
                <a:cs typeface="更纱黑体 UI SC" panose="02000500000000000000" pitchFamily="2" charset="-122"/>
              </a:rPr>
              <a:t>◟</a:t>
            </a:r>
            <a:r>
              <a:rPr lang="pt-BR" altLang="zh-CN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)</a:t>
            </a:r>
            <a:endParaRPr lang="en-US" altLang="zh-CN" dirty="0"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4340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C8A60CED-AE2E-7A53-01A5-09C7A7806244}"/>
              </a:ext>
            </a:extLst>
          </p:cNvPr>
          <p:cNvSpPr txBox="1"/>
          <p:nvPr/>
        </p:nvSpPr>
        <p:spPr>
          <a:xfrm>
            <a:off x="628644" y="3614707"/>
            <a:ext cx="5791201" cy="3419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endParaRPr lang="en-US" altLang="zh-CN" sz="1600" dirty="0">
              <a:solidFill>
                <a:srgbClr val="2F3238"/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b="1" dirty="0">
                <a:solidFill>
                  <a:srgbClr val="2F3238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s4</a:t>
            </a:r>
            <a:r>
              <a:rPr lang="en-US" altLang="zh-CN" sz="14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x</a:t>
            </a:r>
            <a:r>
              <a:rPr lang="zh-CN" altLang="en-US" sz="14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标记：⿻</a:t>
            </a:r>
            <a:r>
              <a:rPr lang="en-US" altLang="zh-CN" sz="14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[_</a:t>
            </a:r>
            <a:r>
              <a:rPr lang="en-US" altLang="zh-CN" sz="1400" b="1" i="0" dirty="0" err="1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x|x</a:t>
            </a:r>
            <a:r>
              <a:rPr lang="en-US" altLang="zh-CN" sz="1400" b="1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_|_xx_]</a:t>
            </a:r>
            <a:r>
              <a:rPr lang="zh-CN" altLang="en-US" sz="14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4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4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4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</a:p>
          <a:p>
            <a:pPr algn="l">
              <a:lnSpc>
                <a:spcPct val="150000"/>
              </a:lnSpc>
            </a:pPr>
            <a:r>
              <a:rPr lang="en-US" altLang="zh-CN" sz="1200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*x</a:t>
            </a:r>
            <a:r>
              <a:rPr lang="zh-CN" altLang="en-US" sz="1200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的重叠纵坐标是默认坐标。</a:t>
            </a:r>
          </a:p>
          <a:p>
            <a:pPr algn="l">
              <a:lnSpc>
                <a:spcPct val="150000"/>
              </a:lnSpc>
            </a:pPr>
            <a:r>
              <a:rPr lang="en-US" altLang="zh-CN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[_x]</a:t>
            </a:r>
            <a:r>
              <a:rPr lang="zh-CN" altLang="en-US" sz="1200" dirty="0">
                <a:solidFill>
                  <a:srgbClr val="2F3238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：</a:t>
            </a:r>
            <a:endParaRPr lang="en-US" altLang="zh-CN" sz="1200" dirty="0">
              <a:solidFill>
                <a:srgbClr val="2F3238"/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表示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在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的右边重叠</a:t>
            </a:r>
            <a:endParaRPr lang="en-US" altLang="zh-CN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[x_]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：</a:t>
            </a:r>
            <a:endParaRPr lang="en-US" altLang="zh-CN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2F3238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表示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在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的左边重叠</a:t>
            </a:r>
          </a:p>
          <a:p>
            <a:pPr algn="l">
              <a:lnSpc>
                <a:spcPct val="150000"/>
              </a:lnSpc>
            </a:pPr>
            <a:r>
              <a:rPr lang="en-US" altLang="zh-CN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[_xx_]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：</a:t>
            </a:r>
            <a:endParaRPr lang="en-US" altLang="zh-CN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solidFill>
                  <a:srgbClr val="2F3238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表示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重叠在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上，</a:t>
            </a:r>
            <a:endParaRPr lang="en-US" altLang="zh-CN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solidFill>
                  <a:srgbClr val="2F3238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且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的左右两边与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的左右两边有接触 但不重叠。</a:t>
            </a:r>
          </a:p>
          <a:p>
            <a:pPr algn="l">
              <a:lnSpc>
                <a:spcPct val="150000"/>
              </a:lnSpc>
            </a:pPr>
            <a:endParaRPr lang="zh-CN" altLang="en-US" sz="16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D0A1BCE-491D-A23F-54B4-8B20FE0E19EC}"/>
              </a:ext>
            </a:extLst>
          </p:cNvPr>
          <p:cNvSpPr txBox="1"/>
          <p:nvPr/>
        </p:nvSpPr>
        <p:spPr>
          <a:xfrm>
            <a:off x="628644" y="0"/>
            <a:ext cx="5791201" cy="361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endParaRPr lang="zh-CN" altLang="en-US" sz="16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b="1" dirty="0"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s3</a:t>
            </a:r>
            <a:r>
              <a:rPr lang="en-US" altLang="zh-CN" sz="14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c</a:t>
            </a:r>
            <a:r>
              <a:rPr lang="zh-CN" altLang="en-US" sz="14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标记：⿻</a:t>
            </a:r>
            <a:r>
              <a:rPr lang="en-US" altLang="zh-CN" sz="14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[c|_</a:t>
            </a:r>
            <a:r>
              <a:rPr lang="en-US" altLang="zh-CN" sz="1400" b="1" i="0" dirty="0" err="1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c|c</a:t>
            </a:r>
            <a:r>
              <a:rPr lang="en-US" altLang="zh-CN" sz="14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_|_cc_]</a:t>
            </a:r>
            <a:r>
              <a:rPr lang="zh-CN" altLang="en-US" sz="14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4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4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400" b="1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</a:p>
          <a:p>
            <a:pPr algn="l">
              <a:lnSpc>
                <a:spcPct val="150000"/>
              </a:lnSpc>
            </a:pPr>
            <a:r>
              <a:rPr lang="en-US" altLang="zh-CN" sz="1200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*</a:t>
            </a:r>
            <a:r>
              <a:rPr lang="zh-CN" altLang="en-US" sz="1200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以下使用“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c</a:t>
            </a:r>
            <a:r>
              <a:rPr lang="en-US" altLang="zh-CN" sz="1200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”</a:t>
            </a:r>
            <a:r>
              <a:rPr lang="zh-CN" altLang="en-US" sz="1200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代指从上到下数的第三个位置</a:t>
            </a:r>
          </a:p>
          <a:p>
            <a:pPr algn="l">
              <a:lnSpc>
                <a:spcPct val="150000"/>
              </a:lnSpc>
            </a:pPr>
            <a:r>
              <a:rPr lang="en-US" altLang="zh-CN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[c]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：</a:t>
            </a:r>
            <a:endParaRPr lang="en-US" altLang="zh-CN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重叠在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c</a:t>
            </a:r>
            <a:r>
              <a:rPr lang="zh-CN" altLang="en-US" sz="1200" dirty="0">
                <a:solidFill>
                  <a:srgbClr val="2F3238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。</a:t>
            </a:r>
            <a:endParaRPr lang="en-US" altLang="zh-CN" sz="1200" dirty="0">
              <a:solidFill>
                <a:srgbClr val="2F3238"/>
              </a:solidFill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[_c]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： </a:t>
            </a:r>
            <a:endParaRPr lang="en-US" altLang="zh-CN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重叠在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</a:t>
            </a:r>
            <a:r>
              <a:rPr lang="en-US" altLang="zh-CN" sz="1200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c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且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的左边与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的左边接触但不重叠。</a:t>
            </a:r>
            <a:endParaRPr lang="en-US" altLang="zh-CN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solidFill>
                  <a:srgbClr val="2F3238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</a:t>
            </a:r>
            <a:r>
              <a:rPr lang="en-US" altLang="zh-CN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[c_]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：</a:t>
            </a:r>
            <a:endParaRPr lang="en-US" altLang="zh-CN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200" b="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重叠在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</a:t>
            </a:r>
            <a:r>
              <a:rPr lang="en-US" altLang="zh-CN" sz="1200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c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且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的右边与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的右边接触但不重叠。</a:t>
            </a:r>
            <a:endParaRPr lang="en-US" altLang="zh-CN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</a:t>
            </a:r>
            <a:r>
              <a:rPr lang="en-US" altLang="zh-CN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[_</a:t>
            </a:r>
            <a:r>
              <a:rPr lang="en-US" altLang="zh-CN" sz="1200" dirty="0">
                <a:solidFill>
                  <a:srgbClr val="2F3238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cc</a:t>
            </a:r>
            <a:r>
              <a:rPr lang="en-US" altLang="zh-CN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_]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：</a:t>
            </a:r>
            <a:endParaRPr lang="en-US" altLang="zh-CN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0" i="0" dirty="0"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在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</a:t>
            </a:r>
            <a:r>
              <a:rPr lang="en-US" altLang="zh-CN" sz="1200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c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重叠，</a:t>
            </a:r>
            <a:endParaRPr lang="en-US" altLang="zh-CN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solidFill>
                  <a:srgbClr val="2F3238"/>
                </a:solidFill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  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且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²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的左右两边与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字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¹</a:t>
            </a:r>
            <a:r>
              <a:rPr lang="zh-CN" altLang="en-US" sz="1200" b="0" i="0" dirty="0">
                <a:solidFill>
                  <a:srgbClr val="2F3238"/>
                </a:solidFill>
                <a:effectLst/>
                <a:latin typeface="更纱黑体 UI SC" panose="02000500000000000000" pitchFamily="2" charset="-122"/>
                <a:ea typeface="更纱黑体 UI SC" panose="02000500000000000000" pitchFamily="2" charset="-122"/>
                <a:cs typeface="更纱黑体 UI SC" panose="02000500000000000000" pitchFamily="2" charset="-122"/>
              </a:rPr>
              <a:t>的左右两边有接触但不重叠。</a:t>
            </a:r>
            <a:endParaRPr lang="en-US" altLang="zh-CN" sz="1200" b="0" i="0" dirty="0">
              <a:solidFill>
                <a:srgbClr val="2F3238"/>
              </a:solidFill>
              <a:effectLst/>
              <a:latin typeface="更纱黑体 UI SC" panose="02000500000000000000" pitchFamily="2" charset="-122"/>
              <a:ea typeface="更纱黑体 UI SC" panose="02000500000000000000" pitchFamily="2" charset="-122"/>
              <a:cs typeface="更纱黑体 UI SC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053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607</TotalTime>
  <Words>1824</Words>
  <Application>Microsoft Office PowerPoint</Application>
  <PresentationFormat>宽屏</PresentationFormat>
  <Paragraphs>194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HanaMinA</vt:lpstr>
      <vt:lpstr>Sarasa UI HC</vt:lpstr>
      <vt:lpstr>Sarasa UI J</vt:lpstr>
      <vt:lpstr>Sarasa UI K</vt:lpstr>
      <vt:lpstr>Sarasa UI TC</vt:lpstr>
      <vt:lpstr>遍黑体P1</vt:lpstr>
      <vt:lpstr>遍黑体P1</vt:lpstr>
      <vt:lpstr>遍黑体P2</vt:lpstr>
      <vt:lpstr>遍黑体P2</vt:lpstr>
      <vt:lpstr>更纱黑体 UI SC</vt:lpstr>
      <vt:lpstr>思源宋体 Heavy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Losketch</dc:creator>
  <cp:lastModifiedBy>tai lei</cp:lastModifiedBy>
  <cp:revision>50</cp:revision>
  <dcterms:created xsi:type="dcterms:W3CDTF">2024-04-04T07:46:22Z</dcterms:created>
  <dcterms:modified xsi:type="dcterms:W3CDTF">2026-03-14T08:36:51Z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2024-04-04T07:48:36Z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e8ba7118-fd73-472f-8198-1eab687b02b9</vt:lpwstr>
  </property>
  <property fmtid="{D5CDD505-2E9C-101B-9397-08002B2CF9AE}" pid="7" name="MSIP_Label_defa4170-0d19-0005-0004-bc88714345d2_ActionId">
    <vt:lpwstr>5515404b-9752-471e-828e-6a4a2d9c4a27</vt:lpwstr>
  </property>
  <property fmtid="{D5CDD505-2E9C-101B-9397-08002B2CF9AE}" pid="8" name="MSIP_Label_defa4170-0d19-0005-0004-bc88714345d2_ContentBits">
    <vt:lpwstr>0</vt:lpwstr>
  </property>
</Properties>
</file>